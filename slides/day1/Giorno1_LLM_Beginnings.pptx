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</p:sldIdLst>
  <p:sldSz cx="9144000" cy="5143500" type="screen16x9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48" autoAdjust="0"/>
    <p:restoredTop sz="94610"/>
  </p:normalViewPr>
  <p:slideViewPr>
    <p:cSldViewPr snapToGrid="0" snapToObjects="1">
      <p:cViewPr>
        <p:scale>
          <a:sx n="150" d="100"/>
          <a:sy n="150" d="100"/>
        </p:scale>
        <p:origin x="2184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685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23839" rtl="0" eaLnBrk="1" latinLnBrk="0" hangingPunct="1">
      <a:defRPr sz="950" kern="1200">
        <a:solidFill>
          <a:schemeClr val="tx1"/>
        </a:solidFill>
        <a:latin typeface="+mn-lt"/>
        <a:ea typeface="+mn-ea"/>
        <a:cs typeface="+mn-cs"/>
      </a:defRPr>
    </a:lvl1pPr>
    <a:lvl2pPr marL="361920" algn="l" defTabSz="723839" rtl="0" eaLnBrk="1" latinLnBrk="0" hangingPunct="1">
      <a:defRPr sz="950" kern="1200">
        <a:solidFill>
          <a:schemeClr val="tx1"/>
        </a:solidFill>
        <a:latin typeface="+mn-lt"/>
        <a:ea typeface="+mn-ea"/>
        <a:cs typeface="+mn-cs"/>
      </a:defRPr>
    </a:lvl2pPr>
    <a:lvl3pPr marL="723839" algn="l" defTabSz="723839" rtl="0" eaLnBrk="1" latinLnBrk="0" hangingPunct="1">
      <a:defRPr sz="950" kern="1200">
        <a:solidFill>
          <a:schemeClr val="tx1"/>
        </a:solidFill>
        <a:latin typeface="+mn-lt"/>
        <a:ea typeface="+mn-ea"/>
        <a:cs typeface="+mn-cs"/>
      </a:defRPr>
    </a:lvl3pPr>
    <a:lvl4pPr marL="1085759" algn="l" defTabSz="723839" rtl="0" eaLnBrk="1" latinLnBrk="0" hangingPunct="1">
      <a:defRPr sz="950" kern="1200">
        <a:solidFill>
          <a:schemeClr val="tx1"/>
        </a:solidFill>
        <a:latin typeface="+mn-lt"/>
        <a:ea typeface="+mn-ea"/>
        <a:cs typeface="+mn-cs"/>
      </a:defRPr>
    </a:lvl4pPr>
    <a:lvl5pPr marL="1447678" algn="l" defTabSz="723839" rtl="0" eaLnBrk="1" latinLnBrk="0" hangingPunct="1">
      <a:defRPr sz="950" kern="1200">
        <a:solidFill>
          <a:schemeClr val="tx1"/>
        </a:solidFill>
        <a:latin typeface="+mn-lt"/>
        <a:ea typeface="+mn-ea"/>
        <a:cs typeface="+mn-cs"/>
      </a:defRPr>
    </a:lvl5pPr>
    <a:lvl6pPr marL="1809598" algn="l" defTabSz="723839" rtl="0" eaLnBrk="1" latinLnBrk="0" hangingPunct="1">
      <a:defRPr sz="950" kern="1200">
        <a:solidFill>
          <a:schemeClr val="tx1"/>
        </a:solidFill>
        <a:latin typeface="+mn-lt"/>
        <a:ea typeface="+mn-ea"/>
        <a:cs typeface="+mn-cs"/>
      </a:defRPr>
    </a:lvl6pPr>
    <a:lvl7pPr marL="2171517" algn="l" defTabSz="723839" rtl="0" eaLnBrk="1" latinLnBrk="0" hangingPunct="1">
      <a:defRPr sz="950" kern="1200">
        <a:solidFill>
          <a:schemeClr val="tx1"/>
        </a:solidFill>
        <a:latin typeface="+mn-lt"/>
        <a:ea typeface="+mn-ea"/>
        <a:cs typeface="+mn-cs"/>
      </a:defRPr>
    </a:lvl7pPr>
    <a:lvl8pPr marL="2533437" algn="l" defTabSz="723839" rtl="0" eaLnBrk="1" latinLnBrk="0" hangingPunct="1">
      <a:defRPr sz="950" kern="1200">
        <a:solidFill>
          <a:schemeClr val="tx1"/>
        </a:solidFill>
        <a:latin typeface="+mn-lt"/>
        <a:ea typeface="+mn-ea"/>
        <a:cs typeface="+mn-cs"/>
      </a:defRPr>
    </a:lvl8pPr>
    <a:lvl9pPr marL="2895356" algn="l" defTabSz="723839" rtl="0" eaLnBrk="1" latinLnBrk="0" hangingPunct="1">
      <a:defRPr sz="9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64895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26289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80979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8005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59890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7131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78920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2861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9055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59023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03716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998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070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7618" y="0"/>
            <a:ext cx="9219235" cy="519043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" name="Shape 1"/>
          <p:cNvSpPr/>
          <p:nvPr/>
        </p:nvSpPr>
        <p:spPr>
          <a:xfrm>
            <a:off x="-37618" y="0"/>
            <a:ext cx="64534" cy="519043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165205" y="295016"/>
            <a:ext cx="8758274" cy="55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22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po’ di…</a:t>
            </a:r>
            <a:r>
              <a:rPr lang="en-US" sz="2622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2622" dirty="0"/>
          </a:p>
        </p:txBody>
      </p:sp>
      <p:sp>
        <p:nvSpPr>
          <p:cNvPr id="5" name="Shape 3"/>
          <p:cNvSpPr/>
          <p:nvPr/>
        </p:nvSpPr>
        <p:spPr>
          <a:xfrm>
            <a:off x="165205" y="903487"/>
            <a:ext cx="8758274" cy="2765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165205" y="1472963"/>
            <a:ext cx="968020" cy="405646"/>
          </a:xfrm>
          <a:prstGeom prst="roundRect">
            <a:avLst>
              <a:gd name="adj" fmla="val 11364"/>
            </a:avLst>
          </a:prstGeom>
          <a:solidFill>
            <a:srgbClr val="0A2342"/>
          </a:solidFill>
          <a:ln/>
        </p:spPr>
      </p:sp>
      <p:sp>
        <p:nvSpPr>
          <p:cNvPr id="7" name="Text 5"/>
          <p:cNvSpPr/>
          <p:nvPr/>
        </p:nvSpPr>
        <p:spPr>
          <a:xfrm>
            <a:off x="165205" y="1528279"/>
            <a:ext cx="968020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1950-2010</a:t>
            </a:r>
            <a:endParaRPr lang="en-US" sz="1008" dirty="0"/>
          </a:p>
        </p:txBody>
      </p:sp>
      <p:sp>
        <p:nvSpPr>
          <p:cNvPr id="8" name="Text 6"/>
          <p:cNvSpPr/>
          <p:nvPr/>
        </p:nvSpPr>
        <p:spPr>
          <a:xfrm>
            <a:off x="1234636" y="1509840"/>
            <a:ext cx="3088444" cy="36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pre-deep learning: regole, statistiche, bag-of-words</a:t>
            </a:r>
            <a:endParaRPr lang="en-US" sz="1110" dirty="0"/>
          </a:p>
        </p:txBody>
      </p:sp>
      <p:sp>
        <p:nvSpPr>
          <p:cNvPr id="9" name="Shape 7"/>
          <p:cNvSpPr/>
          <p:nvPr/>
        </p:nvSpPr>
        <p:spPr>
          <a:xfrm>
            <a:off x="165205" y="2090652"/>
            <a:ext cx="968020" cy="405646"/>
          </a:xfrm>
          <a:prstGeom prst="roundRect">
            <a:avLst>
              <a:gd name="adj" fmla="val 11364"/>
            </a:avLst>
          </a:prstGeom>
          <a:solidFill>
            <a:srgbClr val="0A2342"/>
          </a:solidFill>
          <a:ln/>
        </p:spPr>
      </p:sp>
      <p:sp>
        <p:nvSpPr>
          <p:cNvPr id="10" name="Text 8"/>
          <p:cNvSpPr/>
          <p:nvPr/>
        </p:nvSpPr>
        <p:spPr>
          <a:xfrm>
            <a:off x="165205" y="2145967"/>
            <a:ext cx="968020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2006-2012</a:t>
            </a:r>
            <a:endParaRPr lang="en-US" sz="1008" dirty="0"/>
          </a:p>
        </p:txBody>
      </p:sp>
      <p:sp>
        <p:nvSpPr>
          <p:cNvPr id="11" name="Text 9"/>
          <p:cNvSpPr/>
          <p:nvPr/>
        </p:nvSpPr>
        <p:spPr>
          <a:xfrm>
            <a:off x="1234636" y="2127529"/>
            <a:ext cx="3088444" cy="36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 neurali e deep learning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165205" y="2708341"/>
            <a:ext cx="968020" cy="405646"/>
          </a:xfrm>
          <a:prstGeom prst="roundRect">
            <a:avLst>
              <a:gd name="adj" fmla="val 11364"/>
            </a:avLst>
          </a:prstGeom>
          <a:solidFill>
            <a:srgbClr val="0A2342"/>
          </a:solidFill>
          <a:ln/>
        </p:spPr>
      </p:sp>
      <p:sp>
        <p:nvSpPr>
          <p:cNvPr id="13" name="Text 11"/>
          <p:cNvSpPr/>
          <p:nvPr/>
        </p:nvSpPr>
        <p:spPr>
          <a:xfrm>
            <a:off x="165205" y="2763656"/>
            <a:ext cx="968020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008" dirty="0"/>
          </a:p>
        </p:txBody>
      </p:sp>
      <p:sp>
        <p:nvSpPr>
          <p:cNvPr id="14" name="Text 12"/>
          <p:cNvSpPr/>
          <p:nvPr/>
        </p:nvSpPr>
        <p:spPr>
          <a:xfrm>
            <a:off x="1234636" y="2745218"/>
            <a:ext cx="3088444" cy="36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embeddings: Word2Vec e GloVe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165205" y="3326029"/>
            <a:ext cx="968020" cy="405646"/>
          </a:xfrm>
          <a:prstGeom prst="roundRect">
            <a:avLst>
              <a:gd name="adj" fmla="val 11364"/>
            </a:avLst>
          </a:prstGeom>
          <a:solidFill>
            <a:srgbClr val="0A2342"/>
          </a:solidFill>
          <a:ln/>
        </p:spPr>
      </p:sp>
      <p:sp>
        <p:nvSpPr>
          <p:cNvPr id="16" name="Text 14"/>
          <p:cNvSpPr/>
          <p:nvPr/>
        </p:nvSpPr>
        <p:spPr>
          <a:xfrm>
            <a:off x="165205" y="3381345"/>
            <a:ext cx="968020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1997-2015</a:t>
            </a:r>
            <a:endParaRPr lang="en-US" sz="1008" dirty="0"/>
          </a:p>
        </p:txBody>
      </p:sp>
      <p:sp>
        <p:nvSpPr>
          <p:cNvPr id="17" name="Text 15"/>
          <p:cNvSpPr/>
          <p:nvPr/>
        </p:nvSpPr>
        <p:spPr>
          <a:xfrm>
            <a:off x="1234636" y="3362906"/>
            <a:ext cx="3088444" cy="36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RNN, LSTM e il problema delle sequenze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165205" y="3943718"/>
            <a:ext cx="968020" cy="405646"/>
          </a:xfrm>
          <a:prstGeom prst="roundRect">
            <a:avLst>
              <a:gd name="adj" fmla="val 11364"/>
            </a:avLst>
          </a:prstGeom>
          <a:solidFill>
            <a:srgbClr val="0A2342"/>
          </a:solidFill>
          <a:ln/>
        </p:spPr>
      </p:sp>
      <p:sp>
        <p:nvSpPr>
          <p:cNvPr id="19" name="Text 17"/>
          <p:cNvSpPr/>
          <p:nvPr/>
        </p:nvSpPr>
        <p:spPr>
          <a:xfrm>
            <a:off x="165205" y="3999034"/>
            <a:ext cx="968020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2015-2017</a:t>
            </a:r>
            <a:endParaRPr lang="en-US" sz="1008" dirty="0"/>
          </a:p>
        </p:txBody>
      </p:sp>
      <p:sp>
        <p:nvSpPr>
          <p:cNvPr id="20" name="Text 18"/>
          <p:cNvSpPr/>
          <p:nvPr/>
        </p:nvSpPr>
        <p:spPr>
          <a:xfrm>
            <a:off x="1234636" y="3980595"/>
            <a:ext cx="3088444" cy="36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Meccanismo di attenzione e il paper "Attention Is All You Need"</a:t>
            </a:r>
            <a:endParaRPr lang="en-US" sz="1110" dirty="0"/>
          </a:p>
        </p:txBody>
      </p:sp>
      <p:sp>
        <p:nvSpPr>
          <p:cNvPr id="21" name="Shape 19"/>
          <p:cNvSpPr/>
          <p:nvPr/>
        </p:nvSpPr>
        <p:spPr>
          <a:xfrm>
            <a:off x="4664192" y="1472963"/>
            <a:ext cx="968020" cy="405646"/>
          </a:xfrm>
          <a:prstGeom prst="roundRect">
            <a:avLst>
              <a:gd name="adj" fmla="val 11364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664192" y="1528279"/>
            <a:ext cx="968020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2017+</a:t>
            </a:r>
            <a:endParaRPr lang="en-US" sz="1008" dirty="0"/>
          </a:p>
        </p:txBody>
      </p:sp>
      <p:sp>
        <p:nvSpPr>
          <p:cNvPr id="23" name="Text 21"/>
          <p:cNvSpPr/>
          <p:nvPr/>
        </p:nvSpPr>
        <p:spPr>
          <a:xfrm>
            <a:off x="5733623" y="1509840"/>
            <a:ext cx="3226732" cy="36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Transformer: Q, K, V e multi-head attention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4664192" y="2090652"/>
            <a:ext cx="968020" cy="405646"/>
          </a:xfrm>
          <a:prstGeom prst="roundRect">
            <a:avLst>
              <a:gd name="adj" fmla="val 11364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664192" y="2145967"/>
            <a:ext cx="968020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2018-2019</a:t>
            </a:r>
            <a:endParaRPr lang="en-US" sz="1008" dirty="0"/>
          </a:p>
        </p:txBody>
      </p:sp>
      <p:sp>
        <p:nvSpPr>
          <p:cNvPr id="26" name="Text 24"/>
          <p:cNvSpPr/>
          <p:nvPr/>
        </p:nvSpPr>
        <p:spPr>
          <a:xfrm>
            <a:off x="5733623" y="2127529"/>
            <a:ext cx="3226732" cy="36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vs GPT: encoder-only vs decoder-only</a:t>
            </a:r>
            <a:endParaRPr lang="en-US" sz="1110" dirty="0"/>
          </a:p>
        </p:txBody>
      </p:sp>
      <p:sp>
        <p:nvSpPr>
          <p:cNvPr id="27" name="Shape 25"/>
          <p:cNvSpPr/>
          <p:nvPr/>
        </p:nvSpPr>
        <p:spPr>
          <a:xfrm>
            <a:off x="4664192" y="2708341"/>
            <a:ext cx="968020" cy="405646"/>
          </a:xfrm>
          <a:prstGeom prst="roundRect">
            <a:avLst>
              <a:gd name="adj" fmla="val 11364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664192" y="2763656"/>
            <a:ext cx="968020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2019-2023</a:t>
            </a:r>
            <a:endParaRPr lang="en-US" sz="1008" dirty="0"/>
          </a:p>
        </p:txBody>
      </p:sp>
      <p:sp>
        <p:nvSpPr>
          <p:cNvPr id="29" name="Text 27"/>
          <p:cNvSpPr/>
          <p:nvPr/>
        </p:nvSpPr>
        <p:spPr>
          <a:xfrm>
            <a:off x="5733623" y="2745218"/>
            <a:ext cx="3226732" cy="36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laws: da GPT-1 a GPT-4</a:t>
            </a:r>
            <a:endParaRPr lang="en-US" sz="1110" dirty="0"/>
          </a:p>
        </p:txBody>
      </p:sp>
      <p:sp>
        <p:nvSpPr>
          <p:cNvPr id="30" name="Shape 28"/>
          <p:cNvSpPr/>
          <p:nvPr/>
        </p:nvSpPr>
        <p:spPr>
          <a:xfrm>
            <a:off x="4664192" y="3326029"/>
            <a:ext cx="968020" cy="405646"/>
          </a:xfrm>
          <a:prstGeom prst="roundRect">
            <a:avLst>
              <a:gd name="adj" fmla="val 11364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664192" y="3381345"/>
            <a:ext cx="968020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</a:t>
            </a:r>
            <a:endParaRPr lang="en-US" sz="1008" dirty="0"/>
          </a:p>
        </p:txBody>
      </p:sp>
      <p:sp>
        <p:nvSpPr>
          <p:cNvPr id="32" name="Text 30"/>
          <p:cNvSpPr/>
          <p:nvPr/>
        </p:nvSpPr>
        <p:spPr>
          <a:xfrm>
            <a:off x="5733623" y="3362906"/>
            <a:ext cx="3226732" cy="36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panorama moderno: Claude, Gemini, Llama e altri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4664192" y="3943718"/>
            <a:ext cx="968020" cy="405646"/>
          </a:xfrm>
          <a:prstGeom prst="roundRect">
            <a:avLst>
              <a:gd name="adj" fmla="val 11364"/>
            </a:avLst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4664192" y="3999034"/>
            <a:ext cx="968020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What?</a:t>
            </a:r>
            <a:endParaRPr lang="en-US" sz="1008" dirty="0"/>
          </a:p>
        </p:txBody>
      </p:sp>
      <p:sp>
        <p:nvSpPr>
          <p:cNvPr id="35" name="Text 33"/>
          <p:cNvSpPr/>
          <p:nvPr/>
        </p:nvSpPr>
        <p:spPr>
          <a:xfrm>
            <a:off x="5733623" y="3980595"/>
            <a:ext cx="3226732" cy="36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 la generazione: token, temperatura, sampling</a:t>
            </a:r>
            <a:endParaRPr lang="en-US" sz="11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7618" y="-37294"/>
            <a:ext cx="9219235" cy="519043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" name="Shape 1"/>
          <p:cNvSpPr/>
          <p:nvPr/>
        </p:nvSpPr>
        <p:spPr>
          <a:xfrm>
            <a:off x="-33007" y="-46930"/>
            <a:ext cx="64534" cy="519043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165205" y="257722"/>
            <a:ext cx="8758274" cy="55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22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Prima del Deep Learning</a:t>
            </a:r>
            <a:endParaRPr lang="en-US" sz="2622" dirty="0"/>
          </a:p>
        </p:txBody>
      </p:sp>
      <p:sp>
        <p:nvSpPr>
          <p:cNvPr id="5" name="Shape 3"/>
          <p:cNvSpPr/>
          <p:nvPr/>
        </p:nvSpPr>
        <p:spPr>
          <a:xfrm>
            <a:off x="165205" y="866193"/>
            <a:ext cx="8758274" cy="2765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65205" y="958385"/>
            <a:ext cx="8758274" cy="322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12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le macchine imparavano a capire il testo: dalle regole alla statistica</a:t>
            </a:r>
            <a:endParaRPr lang="en-US" sz="1412" dirty="0"/>
          </a:p>
        </p:txBody>
      </p:sp>
      <p:sp>
        <p:nvSpPr>
          <p:cNvPr id="7" name="Shape 5"/>
          <p:cNvSpPr/>
          <p:nvPr/>
        </p:nvSpPr>
        <p:spPr>
          <a:xfrm>
            <a:off x="165205" y="1391688"/>
            <a:ext cx="2765771" cy="3226732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5205" y="1391689"/>
            <a:ext cx="2765771" cy="691443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/>
        </p:spPr>
      </p:sp>
      <p:sp>
        <p:nvSpPr>
          <p:cNvPr id="9" name="Text 7"/>
          <p:cNvSpPr/>
          <p:nvPr/>
        </p:nvSpPr>
        <p:spPr>
          <a:xfrm>
            <a:off x="257398" y="1437785"/>
            <a:ext cx="2581386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1950s-70s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257398" y="1695925"/>
            <a:ext cx="2581386" cy="350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Approccio</a:t>
            </a:r>
            <a:endParaRPr lang="en-US" sz="1210" dirty="0"/>
          </a:p>
          <a:p>
            <a:r>
              <a:rPr lang="en-US" sz="12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Simbolico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275836" y="2175325"/>
            <a:ext cx="2544509" cy="2304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 scritte a mano, grammatiche formali, dizionari.</a:t>
            </a:r>
            <a:endParaRPr lang="en-US" sz="1210" dirty="0"/>
          </a:p>
          <a:p>
            <a:r>
              <a:rPr lang="en-US" sz="12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Es: ELIZA (1966) – chatbot basato su pattern matching.</a:t>
            </a:r>
            <a:endParaRPr lang="en-US" sz="1210" dirty="0"/>
          </a:p>
        </p:txBody>
      </p:sp>
      <p:sp>
        <p:nvSpPr>
          <p:cNvPr id="12" name="Shape 10"/>
          <p:cNvSpPr/>
          <p:nvPr/>
        </p:nvSpPr>
        <p:spPr>
          <a:xfrm>
            <a:off x="3170676" y="1391688"/>
            <a:ext cx="2765771" cy="3226732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0676" y="1391689"/>
            <a:ext cx="2765771" cy="691443"/>
          </a:xfrm>
          <a:prstGeom prst="roundRect">
            <a:avLst>
              <a:gd name="adj" fmla="val 13333"/>
            </a:avLst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3262868" y="1437785"/>
            <a:ext cx="2581386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1980s-90s</a:t>
            </a:r>
            <a:endParaRPr lang="en-US" sz="1110" dirty="0"/>
          </a:p>
        </p:txBody>
      </p:sp>
      <p:sp>
        <p:nvSpPr>
          <p:cNvPr id="15" name="Text 13"/>
          <p:cNvSpPr/>
          <p:nvPr/>
        </p:nvSpPr>
        <p:spPr>
          <a:xfrm>
            <a:off x="3262868" y="1695925"/>
            <a:ext cx="2581386" cy="350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</a:t>
            </a:r>
            <a:endParaRPr lang="en-US" sz="1210" dirty="0"/>
          </a:p>
          <a:p>
            <a:r>
              <a:rPr lang="en-US" sz="12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Statistici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3281308" y="2175325"/>
            <a:ext cx="2544509" cy="2304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Probabilità e co-occorrenze sostituiscono le regole.</a:t>
            </a:r>
            <a:endParaRPr lang="en-US" sz="1210" dirty="0"/>
          </a:p>
          <a:p>
            <a:r>
              <a:rPr lang="en-US" sz="12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N-gram, HMM, Bayes naive per classificazione.</a:t>
            </a:r>
            <a:endParaRPr lang="en-US" sz="1210" dirty="0"/>
          </a:p>
        </p:txBody>
      </p:sp>
      <p:sp>
        <p:nvSpPr>
          <p:cNvPr id="17" name="Shape 15"/>
          <p:cNvSpPr/>
          <p:nvPr/>
        </p:nvSpPr>
        <p:spPr>
          <a:xfrm>
            <a:off x="6176147" y="1391688"/>
            <a:ext cx="2765771" cy="3226732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6147" y="1391689"/>
            <a:ext cx="2765771" cy="691443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6268339" y="1437785"/>
            <a:ext cx="2581386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110" dirty="0"/>
          </a:p>
        </p:txBody>
      </p:sp>
      <p:sp>
        <p:nvSpPr>
          <p:cNvPr id="20" name="Text 18"/>
          <p:cNvSpPr/>
          <p:nvPr/>
        </p:nvSpPr>
        <p:spPr>
          <a:xfrm>
            <a:off x="6268339" y="1695925"/>
            <a:ext cx="2581386" cy="350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210" dirty="0"/>
          </a:p>
          <a:p>
            <a:r>
              <a:rPr lang="en-US" sz="12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6286779" y="2175325"/>
            <a:ext cx="2544509" cy="2304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Random Forest su feature manuali (tf-idf, bag-of-words).</a:t>
            </a:r>
            <a:endParaRPr lang="en-US" sz="1210" dirty="0"/>
          </a:p>
          <a:p>
            <a:r>
              <a:rPr lang="en-US" sz="12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Buoni risultati ma feature engineering costoso.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165205" y="4710614"/>
            <a:ext cx="8758274" cy="27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comune: non capiscono il significato, solo la forma.</a:t>
            </a:r>
            <a:endParaRPr lang="en-US" sz="12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219235" cy="519043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" name="Shape 1"/>
          <p:cNvSpPr/>
          <p:nvPr/>
        </p:nvSpPr>
        <p:spPr>
          <a:xfrm>
            <a:off x="-9218" y="0"/>
            <a:ext cx="64534" cy="519043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02823" y="295016"/>
            <a:ext cx="8758274" cy="55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22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 Neurali e Deep Learning</a:t>
            </a:r>
            <a:endParaRPr lang="en-US" sz="2622" dirty="0"/>
          </a:p>
        </p:txBody>
      </p:sp>
      <p:sp>
        <p:nvSpPr>
          <p:cNvPr id="5" name="Shape 3"/>
          <p:cNvSpPr/>
          <p:nvPr/>
        </p:nvSpPr>
        <p:spPr>
          <a:xfrm>
            <a:off x="202823" y="903487"/>
            <a:ext cx="8758274" cy="2765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02824" y="995679"/>
            <a:ext cx="4148655" cy="322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12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 una rete neurale</a:t>
            </a:r>
            <a:endParaRPr lang="en-US" sz="1412" dirty="0"/>
          </a:p>
        </p:txBody>
      </p:sp>
      <p:sp>
        <p:nvSpPr>
          <p:cNvPr id="7" name="Shape 5"/>
          <p:cNvSpPr/>
          <p:nvPr/>
        </p:nvSpPr>
        <p:spPr>
          <a:xfrm>
            <a:off x="267052" y="1475078"/>
            <a:ext cx="414866" cy="414866"/>
          </a:xfrm>
          <a:prstGeom prst="ellipse">
            <a:avLst/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7052" y="2148082"/>
            <a:ext cx="414866" cy="414866"/>
          </a:xfrm>
          <a:prstGeom prst="ellipse">
            <a:avLst/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7052" y="2821087"/>
            <a:ext cx="414866" cy="414866"/>
          </a:xfrm>
          <a:prstGeom prst="ellipse">
            <a:avLst/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7052" y="3494091"/>
            <a:ext cx="414866" cy="414866"/>
          </a:xfrm>
          <a:prstGeom prst="ellipse">
            <a:avLst/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0161" y="4194754"/>
            <a:ext cx="599250" cy="46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7" dirty="0"/>
          </a:p>
          <a:p>
            <a:pPr algn="ctr"/>
            <a:r>
              <a:rPr lang="en-US" sz="90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7" dirty="0"/>
          </a:p>
        </p:txBody>
      </p:sp>
      <p:sp>
        <p:nvSpPr>
          <p:cNvPr id="12" name="Shape 10"/>
          <p:cNvSpPr/>
          <p:nvPr/>
        </p:nvSpPr>
        <p:spPr>
          <a:xfrm>
            <a:off x="2120424" y="1475078"/>
            <a:ext cx="414866" cy="414866"/>
          </a:xfrm>
          <a:prstGeom prst="ellipse">
            <a:avLst/>
          </a:prstGeom>
          <a:solidFill>
            <a:srgbClr val="0F346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20424" y="2148082"/>
            <a:ext cx="414866" cy="414866"/>
          </a:xfrm>
          <a:prstGeom prst="ellipse">
            <a:avLst/>
          </a:prstGeom>
          <a:solidFill>
            <a:srgbClr val="0F346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20424" y="2821087"/>
            <a:ext cx="414866" cy="414866"/>
          </a:xfrm>
          <a:prstGeom prst="ellipse">
            <a:avLst/>
          </a:prstGeom>
          <a:solidFill>
            <a:srgbClr val="0F346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20424" y="3494091"/>
            <a:ext cx="414866" cy="414866"/>
          </a:xfrm>
          <a:prstGeom prst="ellipse">
            <a:avLst/>
          </a:prstGeom>
          <a:solidFill>
            <a:srgbClr val="0F346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28233" y="4194754"/>
            <a:ext cx="599250" cy="46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907" dirty="0"/>
          </a:p>
          <a:p>
            <a:pPr algn="ctr"/>
            <a:r>
              <a:rPr lang="en-US" sz="90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7" dirty="0"/>
          </a:p>
        </p:txBody>
      </p:sp>
      <p:sp>
        <p:nvSpPr>
          <p:cNvPr id="17" name="Shape 15"/>
          <p:cNvSpPr/>
          <p:nvPr/>
        </p:nvSpPr>
        <p:spPr>
          <a:xfrm>
            <a:off x="3964271" y="1475078"/>
            <a:ext cx="414866" cy="414866"/>
          </a:xfrm>
          <a:prstGeom prst="ellipse">
            <a:avLst/>
          </a:prstGeom>
          <a:solidFill>
            <a:srgbClr val="0F346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64271" y="2148082"/>
            <a:ext cx="414866" cy="414866"/>
          </a:xfrm>
          <a:prstGeom prst="ellipse">
            <a:avLst/>
          </a:prstGeom>
          <a:solidFill>
            <a:srgbClr val="0F346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64271" y="2821087"/>
            <a:ext cx="414866" cy="414866"/>
          </a:xfrm>
          <a:prstGeom prst="ellipse">
            <a:avLst/>
          </a:prstGeom>
          <a:solidFill>
            <a:srgbClr val="0F346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64271" y="3494091"/>
            <a:ext cx="414866" cy="414866"/>
          </a:xfrm>
          <a:prstGeom prst="ellipse">
            <a:avLst/>
          </a:prstGeom>
          <a:solidFill>
            <a:srgbClr val="0F346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72079" y="4194754"/>
            <a:ext cx="599250" cy="46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907" dirty="0"/>
          </a:p>
          <a:p>
            <a:pPr algn="ctr"/>
            <a:r>
              <a:rPr lang="en-US" sz="90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7" dirty="0"/>
          </a:p>
        </p:txBody>
      </p:sp>
      <p:sp>
        <p:nvSpPr>
          <p:cNvPr id="22" name="Shape 20"/>
          <p:cNvSpPr/>
          <p:nvPr/>
        </p:nvSpPr>
        <p:spPr>
          <a:xfrm>
            <a:off x="5808118" y="1475078"/>
            <a:ext cx="414866" cy="414866"/>
          </a:xfrm>
          <a:prstGeom prst="ellipse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08118" y="2148082"/>
            <a:ext cx="414866" cy="414866"/>
          </a:xfrm>
          <a:prstGeom prst="ellipse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08118" y="2821087"/>
            <a:ext cx="414866" cy="414866"/>
          </a:xfrm>
          <a:prstGeom prst="ellipse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08118" y="3494091"/>
            <a:ext cx="414866" cy="414866"/>
          </a:xfrm>
          <a:prstGeom prst="ellipse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15927" y="4194754"/>
            <a:ext cx="599250" cy="46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7" dirty="0"/>
          </a:p>
          <a:p>
            <a:pPr algn="ctr"/>
            <a:r>
              <a:rPr lang="en-US" sz="90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7" dirty="0"/>
          </a:p>
        </p:txBody>
      </p:sp>
      <p:sp>
        <p:nvSpPr>
          <p:cNvPr id="27" name="Shape 25"/>
          <p:cNvSpPr/>
          <p:nvPr/>
        </p:nvSpPr>
        <p:spPr>
          <a:xfrm>
            <a:off x="691443" y="1677902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1443" y="1677902"/>
            <a:ext cx="1014116" cy="673004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1443" y="1677903"/>
            <a:ext cx="1014116" cy="1346009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1443" y="1677902"/>
            <a:ext cx="1014116" cy="2019012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1443" y="2350905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1443" y="2350905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1443" y="2350907"/>
            <a:ext cx="1014116" cy="673004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1443" y="2350907"/>
            <a:ext cx="1014116" cy="1346009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1443" y="3023910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1443" y="3023910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1443" y="3023910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1443" y="3023911"/>
            <a:ext cx="1014116" cy="673004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1443" y="3696914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1443" y="3696914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1443" y="3696914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1443" y="3696914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35290" y="1677902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35290" y="1677902"/>
            <a:ext cx="1014116" cy="673004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35290" y="1677903"/>
            <a:ext cx="1014116" cy="1346009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35290" y="1677902"/>
            <a:ext cx="1014116" cy="2019012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35290" y="2350905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35290" y="2350905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35290" y="2350907"/>
            <a:ext cx="1014116" cy="673004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35290" y="2350907"/>
            <a:ext cx="1014116" cy="1346009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35290" y="3023910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35290" y="3023910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35290" y="3023910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35290" y="3023911"/>
            <a:ext cx="1014116" cy="673004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35290" y="3696914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35290" y="3696914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35290" y="3696914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35290" y="3696914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379138" y="1677902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379138" y="1677902"/>
            <a:ext cx="1014116" cy="673004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379138" y="1677903"/>
            <a:ext cx="1014116" cy="1346009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379138" y="1677902"/>
            <a:ext cx="1014116" cy="2019012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79138" y="2350905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379138" y="2350905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79138" y="2350907"/>
            <a:ext cx="1014116" cy="673004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379138" y="2350907"/>
            <a:ext cx="1014116" cy="1346009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379138" y="3023910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379138" y="3023910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79138" y="3023910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379138" y="3023911"/>
            <a:ext cx="1014116" cy="673004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379138" y="3696914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79138" y="3696914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379138" y="3696914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79138" y="3696914"/>
            <a:ext cx="1014116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45658" y="995679"/>
            <a:ext cx="2489193" cy="322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12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Concetti chiave</a:t>
            </a:r>
            <a:endParaRPr lang="en-US" sz="1412" dirty="0"/>
          </a:p>
        </p:txBody>
      </p:sp>
      <p:sp>
        <p:nvSpPr>
          <p:cNvPr id="76" name="Shape 74"/>
          <p:cNvSpPr/>
          <p:nvPr/>
        </p:nvSpPr>
        <p:spPr>
          <a:xfrm>
            <a:off x="6545658" y="1401326"/>
            <a:ext cx="2489193" cy="755977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6637851" y="1438203"/>
            <a:ext cx="2304809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Neuroni</a:t>
            </a:r>
            <a:endParaRPr lang="en-US" sz="1110" dirty="0"/>
          </a:p>
        </p:txBody>
      </p:sp>
      <p:sp>
        <p:nvSpPr>
          <p:cNvPr id="78" name="Text 76"/>
          <p:cNvSpPr/>
          <p:nvPr/>
        </p:nvSpPr>
        <p:spPr>
          <a:xfrm>
            <a:off x="6637851" y="1696341"/>
            <a:ext cx="2304809" cy="424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 di calcolo: ricevono input, applicano una funzione di attivazione, producono output.</a:t>
            </a:r>
            <a:endParaRPr lang="en-US" sz="1008" dirty="0"/>
          </a:p>
        </p:txBody>
      </p:sp>
      <p:sp>
        <p:nvSpPr>
          <p:cNvPr id="79" name="Shape 77"/>
          <p:cNvSpPr/>
          <p:nvPr/>
        </p:nvSpPr>
        <p:spPr>
          <a:xfrm>
            <a:off x="6545658" y="2258715"/>
            <a:ext cx="2489193" cy="755977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6637851" y="2295592"/>
            <a:ext cx="2304809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Pesi</a:t>
            </a:r>
            <a:endParaRPr lang="en-US" sz="1110" dirty="0"/>
          </a:p>
        </p:txBody>
      </p:sp>
      <p:sp>
        <p:nvSpPr>
          <p:cNvPr id="81" name="Text 79"/>
          <p:cNvSpPr/>
          <p:nvPr/>
        </p:nvSpPr>
        <p:spPr>
          <a:xfrm>
            <a:off x="6637851" y="2553730"/>
            <a:ext cx="2304809" cy="424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appresi: determinano l'importanza di ogni connessione.</a:t>
            </a:r>
            <a:endParaRPr lang="en-US" sz="1008" dirty="0"/>
          </a:p>
        </p:txBody>
      </p:sp>
      <p:sp>
        <p:nvSpPr>
          <p:cNvPr id="82" name="Shape 80"/>
          <p:cNvSpPr/>
          <p:nvPr/>
        </p:nvSpPr>
        <p:spPr>
          <a:xfrm>
            <a:off x="6545658" y="3116104"/>
            <a:ext cx="2489193" cy="755977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6637851" y="3152980"/>
            <a:ext cx="2304809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</a:t>
            </a:r>
            <a:endParaRPr lang="en-US" sz="1110" dirty="0"/>
          </a:p>
        </p:txBody>
      </p:sp>
      <p:sp>
        <p:nvSpPr>
          <p:cNvPr id="84" name="Text 82"/>
          <p:cNvSpPr/>
          <p:nvPr/>
        </p:nvSpPr>
        <p:spPr>
          <a:xfrm>
            <a:off x="6637851" y="3411119"/>
            <a:ext cx="2304809" cy="424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descent: l'errore viene propagato all'indietro per aggiornare i pesi.</a:t>
            </a:r>
            <a:endParaRPr lang="en-US" sz="1008" dirty="0"/>
          </a:p>
        </p:txBody>
      </p:sp>
      <p:sp>
        <p:nvSpPr>
          <p:cNvPr id="85" name="Shape 83"/>
          <p:cNvSpPr/>
          <p:nvPr/>
        </p:nvSpPr>
        <p:spPr>
          <a:xfrm>
            <a:off x="6545658" y="3973492"/>
            <a:ext cx="2489193" cy="755977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6637851" y="4010369"/>
            <a:ext cx="2304809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ReLU/Softmax</a:t>
            </a:r>
            <a:endParaRPr lang="en-US" sz="1110" dirty="0"/>
          </a:p>
        </p:txBody>
      </p:sp>
      <p:sp>
        <p:nvSpPr>
          <p:cNvPr id="87" name="Text 85"/>
          <p:cNvSpPr/>
          <p:nvPr/>
        </p:nvSpPr>
        <p:spPr>
          <a:xfrm>
            <a:off x="6637851" y="4268508"/>
            <a:ext cx="2304809" cy="424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di attivazione che </a:t>
            </a:r>
            <a:r>
              <a:rPr lang="en-US" sz="1008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introducono</a:t>
            </a:r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non-</a:t>
            </a:r>
            <a:r>
              <a:rPr lang="en-US" sz="1008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linearità</a:t>
            </a:r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nella rete.</a:t>
            </a:r>
            <a:endParaRPr lang="en-US" sz="1008" dirty="0"/>
          </a:p>
        </p:txBody>
      </p:sp>
      <p:sp>
        <p:nvSpPr>
          <p:cNvPr id="88" name="Shape 86"/>
          <p:cNvSpPr/>
          <p:nvPr/>
        </p:nvSpPr>
        <p:spPr>
          <a:xfrm>
            <a:off x="202823" y="4747909"/>
            <a:ext cx="8758274" cy="2765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9" name="Text 87"/>
          <p:cNvSpPr/>
          <p:nvPr/>
        </p:nvSpPr>
        <p:spPr>
          <a:xfrm>
            <a:off x="202823" y="4812444"/>
            <a:ext cx="8758274" cy="27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= reti con molti strati nascosti, capaci di imparare rappresentazioni gerarchiche.</a:t>
            </a:r>
            <a:endParaRPr lang="en-US" sz="11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94"/>
            <a:ext cx="9219235" cy="519043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" name="Shape 1"/>
          <p:cNvSpPr/>
          <p:nvPr/>
        </p:nvSpPr>
        <p:spPr>
          <a:xfrm>
            <a:off x="-27446" y="4194"/>
            <a:ext cx="64534" cy="519043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02823" y="299210"/>
            <a:ext cx="8758274" cy="55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22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Embeddings: Word2Vec</a:t>
            </a:r>
            <a:endParaRPr lang="en-US" sz="2622" dirty="0"/>
          </a:p>
        </p:txBody>
      </p:sp>
      <p:sp>
        <p:nvSpPr>
          <p:cNvPr id="5" name="Shape 3"/>
          <p:cNvSpPr/>
          <p:nvPr/>
        </p:nvSpPr>
        <p:spPr>
          <a:xfrm>
            <a:off x="202823" y="907681"/>
            <a:ext cx="8758274" cy="2765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02823" y="999873"/>
            <a:ext cx="8758274" cy="322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12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Parole come vettori in uno spazio semantico continuo  (Mikolov et al., 2013)</a:t>
            </a:r>
            <a:endParaRPr lang="en-US" sz="1412" dirty="0"/>
          </a:p>
        </p:txBody>
      </p:sp>
      <p:sp>
        <p:nvSpPr>
          <p:cNvPr id="7" name="Shape 5"/>
          <p:cNvSpPr/>
          <p:nvPr/>
        </p:nvSpPr>
        <p:spPr>
          <a:xfrm>
            <a:off x="202824" y="1387081"/>
            <a:ext cx="8712576" cy="3503309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2674" y="1479274"/>
            <a:ext cx="3918175" cy="322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 Vettoriale 2D (semplificato)</a:t>
            </a:r>
            <a:endParaRPr lang="en-US" sz="1210" dirty="0"/>
          </a:p>
        </p:txBody>
      </p:sp>
      <p:sp>
        <p:nvSpPr>
          <p:cNvPr id="9" name="Shape 7"/>
          <p:cNvSpPr/>
          <p:nvPr/>
        </p:nvSpPr>
        <p:spPr>
          <a:xfrm>
            <a:off x="3839866" y="2057592"/>
            <a:ext cx="165946" cy="16594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841263" y="1760505"/>
            <a:ext cx="737539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008" dirty="0"/>
          </a:p>
        </p:txBody>
      </p:sp>
      <p:sp>
        <p:nvSpPr>
          <p:cNvPr id="11" name="Shape 9"/>
          <p:cNvSpPr/>
          <p:nvPr/>
        </p:nvSpPr>
        <p:spPr>
          <a:xfrm>
            <a:off x="4946174" y="2006792"/>
            <a:ext cx="165946" cy="16594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900079" y="1768455"/>
            <a:ext cx="737539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Regina</a:t>
            </a:r>
            <a:endParaRPr lang="en-US" sz="1008" dirty="0"/>
          </a:p>
        </p:txBody>
      </p:sp>
      <p:sp>
        <p:nvSpPr>
          <p:cNvPr id="13" name="Shape 11"/>
          <p:cNvSpPr/>
          <p:nvPr/>
        </p:nvSpPr>
        <p:spPr>
          <a:xfrm>
            <a:off x="3690406" y="3052658"/>
            <a:ext cx="165946" cy="16594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609385" y="2795131"/>
            <a:ext cx="737539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Uomo</a:t>
            </a:r>
            <a:endParaRPr lang="en-US" sz="1008" dirty="0"/>
          </a:p>
        </p:txBody>
      </p:sp>
      <p:sp>
        <p:nvSpPr>
          <p:cNvPr id="15" name="Shape 13"/>
          <p:cNvSpPr/>
          <p:nvPr/>
        </p:nvSpPr>
        <p:spPr>
          <a:xfrm>
            <a:off x="4793540" y="3001858"/>
            <a:ext cx="165946" cy="16594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4715694" y="2795131"/>
            <a:ext cx="737539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Donna</a:t>
            </a:r>
            <a:endParaRPr lang="en-US" sz="1008" dirty="0"/>
          </a:p>
        </p:txBody>
      </p:sp>
      <p:sp>
        <p:nvSpPr>
          <p:cNvPr id="17" name="Shape 15"/>
          <p:cNvSpPr/>
          <p:nvPr/>
        </p:nvSpPr>
        <p:spPr>
          <a:xfrm>
            <a:off x="7039790" y="3717055"/>
            <a:ext cx="165946" cy="165946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8" name="Text 16"/>
          <p:cNvSpPr/>
          <p:nvPr/>
        </p:nvSpPr>
        <p:spPr>
          <a:xfrm>
            <a:off x="7019094" y="3440478"/>
            <a:ext cx="737539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endParaRPr lang="en-US" sz="1008" dirty="0"/>
          </a:p>
        </p:txBody>
      </p:sp>
      <p:sp>
        <p:nvSpPr>
          <p:cNvPr id="19" name="Shape 17"/>
          <p:cNvSpPr/>
          <p:nvPr/>
        </p:nvSpPr>
        <p:spPr>
          <a:xfrm>
            <a:off x="2211202" y="3742643"/>
            <a:ext cx="165946" cy="165946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2157336" y="3461454"/>
            <a:ext cx="737539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</a:t>
            </a:r>
            <a:endParaRPr lang="en-US" sz="1008" dirty="0"/>
          </a:p>
        </p:txBody>
      </p:sp>
      <p:sp>
        <p:nvSpPr>
          <p:cNvPr id="21" name="Text 19"/>
          <p:cNvSpPr/>
          <p:nvPr/>
        </p:nvSpPr>
        <p:spPr>
          <a:xfrm>
            <a:off x="322673" y="4613813"/>
            <a:ext cx="3872079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+ (Donna-</a:t>
            </a:r>
            <a:r>
              <a:rPr lang="en-US" sz="1110" b="1" i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Uomo</a:t>
            </a:r>
            <a:r>
              <a:rPr lang="en-US" sz="111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Regina</a:t>
            </a:r>
            <a:endParaRPr lang="en-US" sz="11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219235" cy="519043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" name="Shape 1"/>
          <p:cNvSpPr/>
          <p:nvPr/>
        </p:nvSpPr>
        <p:spPr>
          <a:xfrm>
            <a:off x="3" y="0"/>
            <a:ext cx="64534" cy="519043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02823" y="295016"/>
            <a:ext cx="8758274" cy="55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22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Sequenze: RNN e LSTM</a:t>
            </a:r>
            <a:endParaRPr lang="en-US" sz="2622" dirty="0"/>
          </a:p>
        </p:txBody>
      </p:sp>
      <p:sp>
        <p:nvSpPr>
          <p:cNvPr id="5" name="Shape 3"/>
          <p:cNvSpPr/>
          <p:nvPr/>
        </p:nvSpPr>
        <p:spPr>
          <a:xfrm>
            <a:off x="202823" y="903487"/>
            <a:ext cx="8758274" cy="2765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02823" y="995679"/>
            <a:ext cx="8758274" cy="322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12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Modellare dipendenze temporali </a:t>
            </a:r>
            <a:r>
              <a:rPr lang="en-US" sz="1412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</a:t>
            </a:r>
            <a:r>
              <a:rPr lang="en-US" sz="1412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testo</a:t>
            </a:r>
            <a:endParaRPr lang="en-US" sz="1412" dirty="0"/>
          </a:p>
        </p:txBody>
      </p:sp>
      <p:sp>
        <p:nvSpPr>
          <p:cNvPr id="7" name="Text 5"/>
          <p:cNvSpPr/>
          <p:nvPr/>
        </p:nvSpPr>
        <p:spPr>
          <a:xfrm>
            <a:off x="212044" y="2479976"/>
            <a:ext cx="4148655" cy="36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12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— Rete </a:t>
            </a:r>
            <a:r>
              <a:rPr lang="en-US" sz="1412" b="1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Neurale</a:t>
            </a:r>
            <a:r>
              <a:rPr lang="en-US" sz="1412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12" b="1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Ricorrente</a:t>
            </a:r>
            <a:endParaRPr lang="en-US" sz="1412" dirty="0"/>
          </a:p>
        </p:txBody>
      </p:sp>
      <p:sp>
        <p:nvSpPr>
          <p:cNvPr id="8" name="Shape 6"/>
          <p:cNvSpPr/>
          <p:nvPr/>
        </p:nvSpPr>
        <p:spPr>
          <a:xfrm>
            <a:off x="322674" y="1521176"/>
            <a:ext cx="829731" cy="691443"/>
          </a:xfrm>
          <a:prstGeom prst="roundRect">
            <a:avLst>
              <a:gd name="adj" fmla="val 10667"/>
            </a:avLst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2674" y="1594930"/>
            <a:ext cx="829731" cy="322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12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h0</a:t>
            </a:r>
            <a:endParaRPr lang="en-US" sz="1412" dirty="0"/>
          </a:p>
        </p:txBody>
      </p:sp>
      <p:sp>
        <p:nvSpPr>
          <p:cNvPr id="10" name="Text 8"/>
          <p:cNvSpPr/>
          <p:nvPr/>
        </p:nvSpPr>
        <p:spPr>
          <a:xfrm>
            <a:off x="322674" y="2304812"/>
            <a:ext cx="829731" cy="27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“Il"</a:t>
            </a:r>
            <a:endParaRPr lang="en-US" sz="1110" dirty="0"/>
          </a:p>
        </p:txBody>
      </p:sp>
      <p:sp>
        <p:nvSpPr>
          <p:cNvPr id="11" name="Shape 9"/>
          <p:cNvSpPr/>
          <p:nvPr/>
        </p:nvSpPr>
        <p:spPr>
          <a:xfrm>
            <a:off x="1152405" y="1871505"/>
            <a:ext cx="202823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23314" y="1521175"/>
            <a:ext cx="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355229" y="1521176"/>
            <a:ext cx="829731" cy="691443"/>
          </a:xfrm>
          <a:prstGeom prst="roundRect">
            <a:avLst>
              <a:gd name="adj" fmla="val 10667"/>
            </a:avLst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55229" y="1594930"/>
            <a:ext cx="829731" cy="322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12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endParaRPr lang="en-US" sz="1412" dirty="0"/>
          </a:p>
        </p:txBody>
      </p:sp>
      <p:sp>
        <p:nvSpPr>
          <p:cNvPr id="15" name="Text 13"/>
          <p:cNvSpPr/>
          <p:nvPr/>
        </p:nvSpPr>
        <p:spPr>
          <a:xfrm>
            <a:off x="1355229" y="2304812"/>
            <a:ext cx="829731" cy="27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11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corriere</a:t>
            </a:r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2184961" y="1871505"/>
            <a:ext cx="202823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70093" y="1521175"/>
            <a:ext cx="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387784" y="1521176"/>
            <a:ext cx="829731" cy="691443"/>
          </a:xfrm>
          <a:prstGeom prst="roundRect">
            <a:avLst>
              <a:gd name="adj" fmla="val 10667"/>
            </a:avLst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387784" y="1594930"/>
            <a:ext cx="829731" cy="322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12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endParaRPr lang="en-US" sz="1412" dirty="0"/>
          </a:p>
        </p:txBody>
      </p:sp>
      <p:sp>
        <p:nvSpPr>
          <p:cNvPr id="20" name="Text 18"/>
          <p:cNvSpPr/>
          <p:nvPr/>
        </p:nvSpPr>
        <p:spPr>
          <a:xfrm>
            <a:off x="2387784" y="2304812"/>
            <a:ext cx="829731" cy="27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“è"</a:t>
            </a:r>
            <a:endParaRPr lang="en-US" sz="1110" dirty="0"/>
          </a:p>
        </p:txBody>
      </p:sp>
      <p:sp>
        <p:nvSpPr>
          <p:cNvPr id="21" name="Shape 19"/>
          <p:cNvSpPr/>
          <p:nvPr/>
        </p:nvSpPr>
        <p:spPr>
          <a:xfrm>
            <a:off x="3217514" y="1871505"/>
            <a:ext cx="202823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02648" y="1521175"/>
            <a:ext cx="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420338" y="1521176"/>
            <a:ext cx="829731" cy="691443"/>
          </a:xfrm>
          <a:prstGeom prst="roundRect">
            <a:avLst>
              <a:gd name="adj" fmla="val 10667"/>
            </a:avLst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20338" y="1594930"/>
            <a:ext cx="829731" cy="322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12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h3</a:t>
            </a:r>
            <a:endParaRPr lang="en-US" sz="1412" dirty="0"/>
          </a:p>
        </p:txBody>
      </p:sp>
      <p:sp>
        <p:nvSpPr>
          <p:cNvPr id="25" name="Text 23"/>
          <p:cNvSpPr/>
          <p:nvPr/>
        </p:nvSpPr>
        <p:spPr>
          <a:xfrm>
            <a:off x="3420338" y="2304812"/>
            <a:ext cx="829731" cy="27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11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passato</a:t>
            </a:r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3835202" y="1521175"/>
            <a:ext cx="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202824" y="2719676"/>
            <a:ext cx="4148655" cy="322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vanishing gradient su sequenze lunghe</a:t>
            </a:r>
            <a:endParaRPr lang="en-US" sz="1210" dirty="0"/>
          </a:p>
        </p:txBody>
      </p:sp>
      <p:sp>
        <p:nvSpPr>
          <p:cNvPr id="30" name="Text 28"/>
          <p:cNvSpPr/>
          <p:nvPr/>
        </p:nvSpPr>
        <p:spPr>
          <a:xfrm>
            <a:off x="202824" y="3134542"/>
            <a:ext cx="4148655" cy="322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12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Soluzione: LSTM</a:t>
            </a:r>
            <a:endParaRPr lang="en-US" sz="1412" dirty="0"/>
          </a:p>
        </p:txBody>
      </p:sp>
      <p:sp>
        <p:nvSpPr>
          <p:cNvPr id="31" name="Shape 29"/>
          <p:cNvSpPr/>
          <p:nvPr/>
        </p:nvSpPr>
        <p:spPr>
          <a:xfrm>
            <a:off x="202824" y="3549408"/>
            <a:ext cx="4148655" cy="442523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02823" y="3549408"/>
            <a:ext cx="1290693" cy="442523"/>
          </a:xfrm>
          <a:prstGeom prst="roundRect">
            <a:avLst>
              <a:gd name="adj" fmla="val 12500"/>
            </a:avLst>
          </a:prstGeom>
          <a:solidFill>
            <a:srgbClr val="0A2342"/>
          </a:solidFill>
          <a:ln/>
        </p:spPr>
      </p:sp>
      <p:sp>
        <p:nvSpPr>
          <p:cNvPr id="33" name="Text 31"/>
          <p:cNvSpPr/>
          <p:nvPr/>
        </p:nvSpPr>
        <p:spPr>
          <a:xfrm>
            <a:off x="202823" y="3641601"/>
            <a:ext cx="1290693" cy="27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lang="en-US" sz="1008" dirty="0"/>
          </a:p>
        </p:txBody>
      </p:sp>
      <p:sp>
        <p:nvSpPr>
          <p:cNvPr id="34" name="Text 32"/>
          <p:cNvSpPr/>
          <p:nvPr/>
        </p:nvSpPr>
        <p:spPr>
          <a:xfrm>
            <a:off x="1585709" y="3623160"/>
            <a:ext cx="2673578" cy="31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Dimentica informazioni irrilevanti dallo stato precedente</a:t>
            </a:r>
            <a:endParaRPr lang="en-US" sz="1110" dirty="0"/>
          </a:p>
        </p:txBody>
      </p:sp>
      <p:sp>
        <p:nvSpPr>
          <p:cNvPr id="35" name="Shape 33"/>
          <p:cNvSpPr/>
          <p:nvPr/>
        </p:nvSpPr>
        <p:spPr>
          <a:xfrm>
            <a:off x="202824" y="4056466"/>
            <a:ext cx="4148655" cy="442523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02823" y="4056466"/>
            <a:ext cx="1290693" cy="442523"/>
          </a:xfrm>
          <a:prstGeom prst="roundRect">
            <a:avLst>
              <a:gd name="adj" fmla="val 12500"/>
            </a:avLst>
          </a:prstGeom>
          <a:solidFill>
            <a:srgbClr val="0F3460"/>
          </a:solidFill>
          <a:ln/>
        </p:spPr>
      </p:sp>
      <p:sp>
        <p:nvSpPr>
          <p:cNvPr id="37" name="Text 35"/>
          <p:cNvSpPr/>
          <p:nvPr/>
        </p:nvSpPr>
        <p:spPr>
          <a:xfrm>
            <a:off x="202823" y="4148658"/>
            <a:ext cx="1290693" cy="27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lang="en-US" sz="1008" dirty="0"/>
          </a:p>
        </p:txBody>
      </p:sp>
      <p:sp>
        <p:nvSpPr>
          <p:cNvPr id="38" name="Text 36"/>
          <p:cNvSpPr/>
          <p:nvPr/>
        </p:nvSpPr>
        <p:spPr>
          <a:xfrm>
            <a:off x="1585709" y="4130218"/>
            <a:ext cx="2673578" cy="31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quali nuove informazioni salvare nella cella</a:t>
            </a:r>
            <a:endParaRPr lang="en-US" sz="1110" dirty="0"/>
          </a:p>
        </p:txBody>
      </p:sp>
      <p:sp>
        <p:nvSpPr>
          <p:cNvPr id="39" name="Shape 37"/>
          <p:cNvSpPr/>
          <p:nvPr/>
        </p:nvSpPr>
        <p:spPr>
          <a:xfrm>
            <a:off x="202824" y="4563524"/>
            <a:ext cx="4148655" cy="442523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02823" y="4563524"/>
            <a:ext cx="1290693" cy="442523"/>
          </a:xfrm>
          <a:prstGeom prst="roundRect">
            <a:avLst>
              <a:gd name="adj" fmla="val 12500"/>
            </a:avLst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202823" y="4655716"/>
            <a:ext cx="1290693" cy="27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lang="en-US" sz="1008" dirty="0"/>
          </a:p>
        </p:txBody>
      </p:sp>
      <p:sp>
        <p:nvSpPr>
          <p:cNvPr id="42" name="Text 40"/>
          <p:cNvSpPr/>
          <p:nvPr/>
        </p:nvSpPr>
        <p:spPr>
          <a:xfrm>
            <a:off x="1585709" y="4637276"/>
            <a:ext cx="2673578" cy="31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 quale parte dello stato produrre come output</a:t>
            </a:r>
            <a:endParaRPr lang="en-US" sz="1110" dirty="0"/>
          </a:p>
        </p:txBody>
      </p:sp>
      <p:sp>
        <p:nvSpPr>
          <p:cNvPr id="43" name="Text 41"/>
          <p:cNvSpPr/>
          <p:nvPr/>
        </p:nvSpPr>
        <p:spPr>
          <a:xfrm>
            <a:off x="4701812" y="1014117"/>
            <a:ext cx="4333041" cy="36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12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 il problema della distanza</a:t>
            </a:r>
            <a:endParaRPr lang="en-US" sz="1412" dirty="0"/>
          </a:p>
        </p:txBody>
      </p:sp>
      <p:sp>
        <p:nvSpPr>
          <p:cNvPr id="44" name="Shape 42"/>
          <p:cNvSpPr/>
          <p:nvPr/>
        </p:nvSpPr>
        <p:spPr>
          <a:xfrm>
            <a:off x="4701812" y="1475079"/>
            <a:ext cx="4333041" cy="1014116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1810" y="1475079"/>
            <a:ext cx="73754" cy="1014116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4886196" y="1521175"/>
            <a:ext cx="4038025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limitata</a:t>
            </a:r>
            <a:endParaRPr lang="en-US" sz="1210" dirty="0"/>
          </a:p>
        </p:txBody>
      </p:sp>
      <p:sp>
        <p:nvSpPr>
          <p:cNvPr id="47" name="Text 45"/>
          <p:cNvSpPr/>
          <p:nvPr/>
        </p:nvSpPr>
        <p:spPr>
          <a:xfrm>
            <a:off x="4886196" y="1816190"/>
            <a:ext cx="4038025" cy="571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 le LSTM faticano con dipendenze molto lontane nel testo (es. soggetto e verbo separati da 50 token).</a:t>
            </a:r>
            <a:endParaRPr lang="en-US" sz="1110" dirty="0"/>
          </a:p>
        </p:txBody>
      </p:sp>
      <p:sp>
        <p:nvSpPr>
          <p:cNvPr id="48" name="Shape 46"/>
          <p:cNvSpPr/>
          <p:nvPr/>
        </p:nvSpPr>
        <p:spPr>
          <a:xfrm>
            <a:off x="4701812" y="2627483"/>
            <a:ext cx="4333041" cy="1014116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01810" y="2627483"/>
            <a:ext cx="73754" cy="1014116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4886196" y="2673579"/>
            <a:ext cx="4038025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parallelizzabile</a:t>
            </a:r>
            <a:endParaRPr lang="en-US" sz="1210" dirty="0"/>
          </a:p>
        </p:txBody>
      </p:sp>
      <p:sp>
        <p:nvSpPr>
          <p:cNvPr id="51" name="Text 49"/>
          <p:cNvSpPr/>
          <p:nvPr/>
        </p:nvSpPr>
        <p:spPr>
          <a:xfrm>
            <a:off x="4886196" y="2968595"/>
            <a:ext cx="4038025" cy="571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processing e sequenziale: ogni token dipende dal precedente. Impossibile sfruttare la GPU in parallelo.</a:t>
            </a:r>
            <a:endParaRPr lang="en-US" sz="1110" dirty="0"/>
          </a:p>
        </p:txBody>
      </p:sp>
      <p:sp>
        <p:nvSpPr>
          <p:cNvPr id="52" name="Shape 50"/>
          <p:cNvSpPr/>
          <p:nvPr/>
        </p:nvSpPr>
        <p:spPr>
          <a:xfrm>
            <a:off x="4701812" y="3779888"/>
            <a:ext cx="4333041" cy="1014116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01810" y="3779888"/>
            <a:ext cx="73754" cy="1014116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54" name="Text 52"/>
          <p:cNvSpPr/>
          <p:nvPr/>
        </p:nvSpPr>
        <p:spPr>
          <a:xfrm>
            <a:off x="4886196" y="3825984"/>
            <a:ext cx="4038025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encoder</a:t>
            </a:r>
            <a:endParaRPr lang="en-US" sz="1210" dirty="0"/>
          </a:p>
        </p:txBody>
      </p:sp>
      <p:sp>
        <p:nvSpPr>
          <p:cNvPr id="55" name="Text 53"/>
          <p:cNvSpPr/>
          <p:nvPr/>
        </p:nvSpPr>
        <p:spPr>
          <a:xfrm>
            <a:off x="4886196" y="4121000"/>
            <a:ext cx="4038025" cy="571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 modelli seq2seq l'intera frase sorgente deve comprimersi in un singolo vettore. Informazioni si perdono.</a:t>
            </a:r>
            <a:endParaRPr lang="en-US" sz="1110" dirty="0"/>
          </a:p>
        </p:txBody>
      </p:sp>
      <p:sp>
        <p:nvSpPr>
          <p:cNvPr id="56" name="Text 54"/>
          <p:cNvSpPr/>
          <p:nvPr/>
        </p:nvSpPr>
        <p:spPr>
          <a:xfrm>
            <a:off x="4701812" y="4932292"/>
            <a:ext cx="4333041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 arrivera nel 2017 con il meccanismo di attenzione.</a:t>
            </a:r>
            <a:endParaRPr lang="en-US" sz="11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4545" y="0"/>
            <a:ext cx="9219235" cy="519043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" name="Shape 1"/>
          <p:cNvSpPr/>
          <p:nvPr/>
        </p:nvSpPr>
        <p:spPr>
          <a:xfrm>
            <a:off x="-18670" y="0"/>
            <a:ext cx="64534" cy="519043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168278" y="295016"/>
            <a:ext cx="8758274" cy="55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22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 Is All You Need" — Vaswani et al., 2017</a:t>
            </a:r>
            <a:endParaRPr lang="en-US" sz="2622" dirty="0"/>
          </a:p>
        </p:txBody>
      </p:sp>
      <p:sp>
        <p:nvSpPr>
          <p:cNvPr id="5" name="Shape 3"/>
          <p:cNvSpPr/>
          <p:nvPr/>
        </p:nvSpPr>
        <p:spPr>
          <a:xfrm>
            <a:off x="168278" y="903487"/>
            <a:ext cx="8758274" cy="2765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168278" y="1014117"/>
            <a:ext cx="8758274" cy="553154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8129" y="1124749"/>
            <a:ext cx="8527793" cy="350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12" b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paper che ha cambiato tutto  |  Google Brain, 2017  |  &gt;100.000 citazioni</a:t>
            </a:r>
            <a:endParaRPr lang="en-US" sz="1412" dirty="0"/>
          </a:p>
        </p:txBody>
      </p:sp>
      <p:sp>
        <p:nvSpPr>
          <p:cNvPr id="8" name="Shape 6"/>
          <p:cNvSpPr/>
          <p:nvPr/>
        </p:nvSpPr>
        <p:spPr>
          <a:xfrm>
            <a:off x="168279" y="1733217"/>
            <a:ext cx="4240848" cy="894266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8278" y="1733217"/>
            <a:ext cx="1475078" cy="894266"/>
          </a:xfrm>
          <a:prstGeom prst="roundRect">
            <a:avLst>
              <a:gd name="adj" fmla="val 8247"/>
            </a:avLst>
          </a:prstGeom>
          <a:solidFill>
            <a:srgbClr val="0A2342"/>
          </a:solidFill>
          <a:ln/>
        </p:spPr>
      </p:sp>
      <p:sp>
        <p:nvSpPr>
          <p:cNvPr id="10" name="Text 8"/>
          <p:cNvSpPr/>
          <p:nvPr/>
        </p:nvSpPr>
        <p:spPr>
          <a:xfrm>
            <a:off x="214374" y="1963698"/>
            <a:ext cx="1382886" cy="41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110" dirty="0"/>
          </a:p>
        </p:txBody>
      </p:sp>
      <p:sp>
        <p:nvSpPr>
          <p:cNvPr id="11" name="Text 9"/>
          <p:cNvSpPr/>
          <p:nvPr/>
        </p:nvSpPr>
        <p:spPr>
          <a:xfrm>
            <a:off x="1735548" y="1806973"/>
            <a:ext cx="2581386" cy="755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token calcola attenzione verso tutti gli altri token della stessa sequenza in parallelo.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4639608" y="1733217"/>
            <a:ext cx="4240848" cy="894266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39607" y="1733217"/>
            <a:ext cx="1475078" cy="894266"/>
          </a:xfrm>
          <a:prstGeom prst="roundRect">
            <a:avLst>
              <a:gd name="adj" fmla="val 8247"/>
            </a:avLst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4685703" y="1963698"/>
            <a:ext cx="1382886" cy="41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</a:t>
            </a:r>
            <a:endParaRPr lang="en-US" sz="1110" dirty="0"/>
          </a:p>
        </p:txBody>
      </p:sp>
      <p:sp>
        <p:nvSpPr>
          <p:cNvPr id="15" name="Text 13"/>
          <p:cNvSpPr/>
          <p:nvPr/>
        </p:nvSpPr>
        <p:spPr>
          <a:xfrm>
            <a:off x="6206878" y="1806973"/>
            <a:ext cx="2581386" cy="755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 teste di attenzione catturano diversi tipi di relazioni (soggetto-verbo, agg-sostantivo...).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168279" y="2765771"/>
            <a:ext cx="4240848" cy="894266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8278" y="2765771"/>
            <a:ext cx="1475078" cy="894266"/>
          </a:xfrm>
          <a:prstGeom prst="roundRect">
            <a:avLst>
              <a:gd name="adj" fmla="val 8247"/>
            </a:avLst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214374" y="2996252"/>
            <a:ext cx="1382886" cy="41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Pos. Encoding</a:t>
            </a:r>
            <a:endParaRPr lang="en-US" sz="1110" dirty="0"/>
          </a:p>
        </p:txBody>
      </p:sp>
      <p:sp>
        <p:nvSpPr>
          <p:cNvPr id="19" name="Text 17"/>
          <p:cNvSpPr/>
          <p:nvPr/>
        </p:nvSpPr>
        <p:spPr>
          <a:xfrm>
            <a:off x="1735548" y="2839526"/>
            <a:ext cx="2581386" cy="755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ricorrenza, la posizione viene iniettata con funzioni sinusoidali nei vettori.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4639608" y="2765771"/>
            <a:ext cx="4240848" cy="894266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39607" y="2765771"/>
            <a:ext cx="1475078" cy="894266"/>
          </a:xfrm>
          <a:prstGeom prst="roundRect">
            <a:avLst>
              <a:gd name="adj" fmla="val 8247"/>
            </a:avLst>
          </a:prstGeom>
          <a:solidFill>
            <a:srgbClr val="0F3460"/>
          </a:solidFill>
          <a:ln/>
        </p:spPr>
      </p:sp>
      <p:sp>
        <p:nvSpPr>
          <p:cNvPr id="22" name="Text 20"/>
          <p:cNvSpPr/>
          <p:nvPr/>
        </p:nvSpPr>
        <p:spPr>
          <a:xfrm>
            <a:off x="4685703" y="2996252"/>
            <a:ext cx="1382886" cy="41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Encoder/Decoder</a:t>
            </a:r>
            <a:endParaRPr lang="en-US" sz="1110" dirty="0"/>
          </a:p>
        </p:txBody>
      </p:sp>
      <p:sp>
        <p:nvSpPr>
          <p:cNvPr id="23" name="Text 21"/>
          <p:cNvSpPr/>
          <p:nvPr/>
        </p:nvSpPr>
        <p:spPr>
          <a:xfrm>
            <a:off x="6206878" y="2839526"/>
            <a:ext cx="2581386" cy="755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legge l'input intero; decoder genera l'output token per token, con cross-attention.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168279" y="3798326"/>
            <a:ext cx="4240848" cy="894266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8278" y="3798326"/>
            <a:ext cx="1475078" cy="894266"/>
          </a:xfrm>
          <a:prstGeom prst="roundRect">
            <a:avLst>
              <a:gd name="adj" fmla="val 8247"/>
            </a:avLst>
          </a:prstGeom>
          <a:solidFill>
            <a:srgbClr val="0A2342"/>
          </a:solidFill>
          <a:ln/>
        </p:spPr>
      </p:sp>
      <p:sp>
        <p:nvSpPr>
          <p:cNvPr id="26" name="Text 24"/>
          <p:cNvSpPr/>
          <p:nvPr/>
        </p:nvSpPr>
        <p:spPr>
          <a:xfrm>
            <a:off x="214374" y="4028807"/>
            <a:ext cx="1382886" cy="41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Parallelismo GPU</a:t>
            </a:r>
            <a:endParaRPr lang="en-US" sz="1110" dirty="0"/>
          </a:p>
        </p:txBody>
      </p:sp>
      <p:sp>
        <p:nvSpPr>
          <p:cNvPr id="27" name="Text 25"/>
          <p:cNvSpPr/>
          <p:nvPr/>
        </p:nvSpPr>
        <p:spPr>
          <a:xfrm>
            <a:off x="1735548" y="3872081"/>
            <a:ext cx="2581386" cy="755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dipendenza sequenziale: training molto piu veloce su hardware moderno.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4639608" y="3798326"/>
            <a:ext cx="4240848" cy="894266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39607" y="3798326"/>
            <a:ext cx="1475078" cy="894266"/>
          </a:xfrm>
          <a:prstGeom prst="roundRect">
            <a:avLst>
              <a:gd name="adj" fmla="val 8247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it-IT" dirty="0"/>
          </a:p>
        </p:txBody>
      </p:sp>
      <p:sp>
        <p:nvSpPr>
          <p:cNvPr id="30" name="Text 28"/>
          <p:cNvSpPr/>
          <p:nvPr/>
        </p:nvSpPr>
        <p:spPr>
          <a:xfrm>
            <a:off x="4685703" y="4028807"/>
            <a:ext cx="1382886" cy="41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Scalabilità</a:t>
            </a:r>
            <a:endParaRPr lang="en-US" sz="1110" dirty="0"/>
          </a:p>
        </p:txBody>
      </p:sp>
      <p:sp>
        <p:nvSpPr>
          <p:cNvPr id="31" name="Text 29"/>
          <p:cNvSpPr/>
          <p:nvPr/>
        </p:nvSpPr>
        <p:spPr>
          <a:xfrm>
            <a:off x="6206878" y="3872081"/>
            <a:ext cx="2581386" cy="755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 parametri + piu dati = prestazioni migliori. La base per i LLM giganti.</a:t>
            </a:r>
            <a:endParaRPr lang="en-US" sz="1110" dirty="0"/>
          </a:p>
        </p:txBody>
      </p:sp>
      <p:sp>
        <p:nvSpPr>
          <p:cNvPr id="32" name="Shape 30"/>
          <p:cNvSpPr/>
          <p:nvPr/>
        </p:nvSpPr>
        <p:spPr>
          <a:xfrm>
            <a:off x="168278" y="4794004"/>
            <a:ext cx="8758274" cy="295016"/>
          </a:xfrm>
          <a:prstGeom prst="roundRect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33" name="Text 31"/>
          <p:cNvSpPr/>
          <p:nvPr/>
        </p:nvSpPr>
        <p:spPr>
          <a:xfrm>
            <a:off x="288129" y="4821662"/>
            <a:ext cx="8527793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11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«Erano i </a:t>
            </a:r>
            <a:r>
              <a:rPr lang="it-IT" sz="111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capei</a:t>
            </a:r>
            <a:r>
              <a:rPr lang="it-IT" sz="111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d'oro a l'aura sparsi» (Petrarca)</a:t>
            </a:r>
            <a:endParaRPr lang="en-US" sz="11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063" y="0"/>
            <a:ext cx="9219235" cy="519043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" name="Shape 1"/>
          <p:cNvSpPr/>
          <p:nvPr/>
        </p:nvSpPr>
        <p:spPr>
          <a:xfrm>
            <a:off x="-13381" y="-13828"/>
            <a:ext cx="64534" cy="519043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186760" y="295016"/>
            <a:ext cx="8758274" cy="55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22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Transformer</a:t>
            </a:r>
            <a:endParaRPr lang="en-US" sz="2622" dirty="0"/>
          </a:p>
        </p:txBody>
      </p:sp>
      <p:sp>
        <p:nvSpPr>
          <p:cNvPr id="5" name="Shape 3"/>
          <p:cNvSpPr/>
          <p:nvPr/>
        </p:nvSpPr>
        <p:spPr>
          <a:xfrm>
            <a:off x="186760" y="903487"/>
            <a:ext cx="8758274" cy="2765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86760" y="1014117"/>
            <a:ext cx="2765771" cy="36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13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613" dirty="0"/>
          </a:p>
        </p:txBody>
      </p:sp>
      <p:sp>
        <p:nvSpPr>
          <p:cNvPr id="7" name="Text 5"/>
          <p:cNvSpPr/>
          <p:nvPr/>
        </p:nvSpPr>
        <p:spPr>
          <a:xfrm>
            <a:off x="3072381" y="1014117"/>
            <a:ext cx="2765771" cy="36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13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613" dirty="0"/>
          </a:p>
        </p:txBody>
      </p:sp>
      <p:sp>
        <p:nvSpPr>
          <p:cNvPr id="8" name="Shape 6"/>
          <p:cNvSpPr/>
          <p:nvPr/>
        </p:nvSpPr>
        <p:spPr>
          <a:xfrm>
            <a:off x="306610" y="1475080"/>
            <a:ext cx="2489193" cy="663785"/>
          </a:xfrm>
          <a:prstGeom prst="roundRect">
            <a:avLst>
              <a:gd name="adj" fmla="val 8333"/>
            </a:avLst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6610" y="1521176"/>
            <a:ext cx="2489193" cy="571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</a:t>
            </a:r>
            <a:endParaRPr lang="en-US" sz="1110" dirty="0"/>
          </a:p>
          <a:p>
            <a:pPr algn="ctr"/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306610" y="2231057"/>
            <a:ext cx="2489193" cy="663785"/>
          </a:xfrm>
          <a:prstGeom prst="roundRect">
            <a:avLst>
              <a:gd name="adj" fmla="val 8333"/>
            </a:avLst>
          </a:prstGeom>
          <a:solidFill>
            <a:srgbClr val="0F346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6610" y="2277153"/>
            <a:ext cx="2489193" cy="571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306610" y="2987034"/>
            <a:ext cx="2489193" cy="663785"/>
          </a:xfrm>
          <a:prstGeom prst="roundRect">
            <a:avLst>
              <a:gd name="adj" fmla="val 8333"/>
            </a:avLst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6610" y="3033130"/>
            <a:ext cx="2489193" cy="571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</a:t>
            </a:r>
            <a:endParaRPr lang="en-US" sz="1110" dirty="0"/>
          </a:p>
          <a:p>
            <a:pPr algn="ctr"/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306610" y="3743012"/>
            <a:ext cx="2489193" cy="663785"/>
          </a:xfrm>
          <a:prstGeom prst="roundRect">
            <a:avLst>
              <a:gd name="adj" fmla="val 8333"/>
            </a:avLst>
          </a:prstGeom>
          <a:solidFill>
            <a:srgbClr val="0F346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6610" y="3789108"/>
            <a:ext cx="2489193" cy="571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110" dirty="0"/>
          </a:p>
        </p:txBody>
      </p:sp>
      <p:sp>
        <p:nvSpPr>
          <p:cNvPr id="16" name="Text 14"/>
          <p:cNvSpPr/>
          <p:nvPr/>
        </p:nvSpPr>
        <p:spPr>
          <a:xfrm>
            <a:off x="306610" y="4535865"/>
            <a:ext cx="2489193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N blocchi</a:t>
            </a:r>
            <a:endParaRPr lang="en-US" sz="1008" dirty="0"/>
          </a:p>
        </p:txBody>
      </p:sp>
      <p:sp>
        <p:nvSpPr>
          <p:cNvPr id="17" name="Shape 15"/>
          <p:cNvSpPr/>
          <p:nvPr/>
        </p:nvSpPr>
        <p:spPr>
          <a:xfrm>
            <a:off x="3164573" y="1475080"/>
            <a:ext cx="2581386" cy="442523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64573" y="1502738"/>
            <a:ext cx="2581386" cy="387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</a:t>
            </a:r>
            <a:endParaRPr lang="en-US" sz="1008" dirty="0"/>
          </a:p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008" dirty="0"/>
          </a:p>
        </p:txBody>
      </p:sp>
      <p:sp>
        <p:nvSpPr>
          <p:cNvPr id="19" name="Shape 17"/>
          <p:cNvSpPr/>
          <p:nvPr/>
        </p:nvSpPr>
        <p:spPr>
          <a:xfrm>
            <a:off x="3164573" y="1982137"/>
            <a:ext cx="2581386" cy="442523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64573" y="2009795"/>
            <a:ext cx="2581386" cy="387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008" dirty="0"/>
          </a:p>
        </p:txBody>
      </p:sp>
      <p:sp>
        <p:nvSpPr>
          <p:cNvPr id="21" name="Shape 19"/>
          <p:cNvSpPr/>
          <p:nvPr/>
        </p:nvSpPr>
        <p:spPr>
          <a:xfrm>
            <a:off x="3164573" y="2489196"/>
            <a:ext cx="2581386" cy="442523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164573" y="2516853"/>
            <a:ext cx="2581386" cy="387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</a:t>
            </a:r>
            <a:endParaRPr lang="en-US" sz="1008" dirty="0"/>
          </a:p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(enc. output)</a:t>
            </a:r>
            <a:endParaRPr lang="en-US" sz="1008" dirty="0"/>
          </a:p>
        </p:txBody>
      </p:sp>
      <p:sp>
        <p:nvSpPr>
          <p:cNvPr id="23" name="Shape 21"/>
          <p:cNvSpPr/>
          <p:nvPr/>
        </p:nvSpPr>
        <p:spPr>
          <a:xfrm>
            <a:off x="3164573" y="2996253"/>
            <a:ext cx="2581386" cy="442523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164573" y="3023911"/>
            <a:ext cx="2581386" cy="387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008" dirty="0"/>
          </a:p>
        </p:txBody>
      </p:sp>
      <p:sp>
        <p:nvSpPr>
          <p:cNvPr id="25" name="Shape 23"/>
          <p:cNvSpPr/>
          <p:nvPr/>
        </p:nvSpPr>
        <p:spPr>
          <a:xfrm>
            <a:off x="3164573" y="3503312"/>
            <a:ext cx="2581386" cy="442523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164573" y="3530969"/>
            <a:ext cx="2581386" cy="387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</a:t>
            </a:r>
            <a:endParaRPr lang="en-US" sz="1008" dirty="0"/>
          </a:p>
        </p:txBody>
      </p:sp>
      <p:sp>
        <p:nvSpPr>
          <p:cNvPr id="27" name="Shape 25"/>
          <p:cNvSpPr/>
          <p:nvPr/>
        </p:nvSpPr>
        <p:spPr>
          <a:xfrm>
            <a:off x="3164573" y="4010369"/>
            <a:ext cx="2581386" cy="442523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164573" y="4038027"/>
            <a:ext cx="2581386" cy="387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008" dirty="0"/>
          </a:p>
        </p:txBody>
      </p:sp>
      <p:sp>
        <p:nvSpPr>
          <p:cNvPr id="29" name="Text 27"/>
          <p:cNvSpPr/>
          <p:nvPr/>
        </p:nvSpPr>
        <p:spPr>
          <a:xfrm>
            <a:off x="3164573" y="4609619"/>
            <a:ext cx="2581386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N blocchi</a:t>
            </a:r>
            <a:endParaRPr lang="en-US" sz="1008" dirty="0"/>
          </a:p>
        </p:txBody>
      </p:sp>
      <p:sp>
        <p:nvSpPr>
          <p:cNvPr id="30" name="Shape 28"/>
          <p:cNvSpPr/>
          <p:nvPr/>
        </p:nvSpPr>
        <p:spPr>
          <a:xfrm>
            <a:off x="2952531" y="1475080"/>
            <a:ext cx="0" cy="2950155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022537" y="1014116"/>
            <a:ext cx="3042348" cy="894266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22536" y="1014116"/>
            <a:ext cx="73754" cy="894266"/>
          </a:xfrm>
          <a:prstGeom prst="roundRect">
            <a:avLst/>
          </a:prstGeom>
          <a:solidFill>
            <a:srgbClr val="0A2342"/>
          </a:solidFill>
          <a:ln/>
        </p:spPr>
      </p:sp>
      <p:sp>
        <p:nvSpPr>
          <p:cNvPr id="33" name="Text 31"/>
          <p:cNvSpPr/>
          <p:nvPr/>
        </p:nvSpPr>
        <p:spPr>
          <a:xfrm>
            <a:off x="6206922" y="1060214"/>
            <a:ext cx="2765771" cy="27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Q, K, V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6206922" y="1336790"/>
            <a:ext cx="2765771" cy="46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Query, Key, Value — tre proiezioni lineari del vettore di input.</a:t>
            </a:r>
            <a:endParaRPr lang="en-US" sz="1008" dirty="0"/>
          </a:p>
        </p:txBody>
      </p:sp>
      <p:sp>
        <p:nvSpPr>
          <p:cNvPr id="35" name="Shape 33"/>
          <p:cNvSpPr/>
          <p:nvPr/>
        </p:nvSpPr>
        <p:spPr>
          <a:xfrm>
            <a:off x="6022537" y="2028232"/>
            <a:ext cx="3042348" cy="894266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22536" y="2028232"/>
            <a:ext cx="73754" cy="894266"/>
          </a:xfrm>
          <a:prstGeom prst="roundRect">
            <a:avLst/>
          </a:prstGeom>
          <a:solidFill>
            <a:srgbClr val="0F3460"/>
          </a:solidFill>
          <a:ln/>
        </p:spPr>
      </p:sp>
      <p:sp>
        <p:nvSpPr>
          <p:cNvPr id="37" name="Text 35"/>
          <p:cNvSpPr/>
          <p:nvPr/>
        </p:nvSpPr>
        <p:spPr>
          <a:xfrm>
            <a:off x="6206922" y="2074330"/>
            <a:ext cx="2765771" cy="27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Pos. Enc.</a:t>
            </a:r>
            <a:endParaRPr lang="en-US" sz="1210" dirty="0"/>
          </a:p>
        </p:txBody>
      </p:sp>
      <p:sp>
        <p:nvSpPr>
          <p:cNvPr id="38" name="Text 36"/>
          <p:cNvSpPr/>
          <p:nvPr/>
        </p:nvSpPr>
        <p:spPr>
          <a:xfrm>
            <a:off x="6206922" y="2350906"/>
            <a:ext cx="2765771" cy="46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sin/cos di frequenze diverse addizionati agli embedding: senza di loro il modello non sa la posizione.</a:t>
            </a:r>
            <a:endParaRPr lang="en-US" sz="1008" dirty="0"/>
          </a:p>
        </p:txBody>
      </p:sp>
      <p:sp>
        <p:nvSpPr>
          <p:cNvPr id="39" name="Shape 37"/>
          <p:cNvSpPr/>
          <p:nvPr/>
        </p:nvSpPr>
        <p:spPr>
          <a:xfrm>
            <a:off x="6022537" y="3042348"/>
            <a:ext cx="3042348" cy="894266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22536" y="3042348"/>
            <a:ext cx="73754" cy="894266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6206922" y="3088446"/>
            <a:ext cx="2765771" cy="27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Feed-Fwd</a:t>
            </a:r>
            <a:endParaRPr lang="en-US" sz="1210" dirty="0"/>
          </a:p>
        </p:txBody>
      </p:sp>
      <p:sp>
        <p:nvSpPr>
          <p:cNvPr id="42" name="Text 40"/>
          <p:cNvSpPr/>
          <p:nvPr/>
        </p:nvSpPr>
        <p:spPr>
          <a:xfrm>
            <a:off x="6206922" y="3365022"/>
            <a:ext cx="2765771" cy="46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layer lineari con ReLU in mezzo: aggiungono capacita di trasformazione non-lineare.</a:t>
            </a:r>
            <a:endParaRPr lang="en-US" sz="1008" dirty="0"/>
          </a:p>
        </p:txBody>
      </p:sp>
      <p:sp>
        <p:nvSpPr>
          <p:cNvPr id="43" name="Shape 41"/>
          <p:cNvSpPr/>
          <p:nvPr/>
        </p:nvSpPr>
        <p:spPr>
          <a:xfrm>
            <a:off x="6022537" y="4056464"/>
            <a:ext cx="3042348" cy="894266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22536" y="4056464"/>
            <a:ext cx="73754" cy="894266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6206922" y="4102562"/>
            <a:ext cx="2765771" cy="27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1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Residuals</a:t>
            </a:r>
            <a:endParaRPr lang="en-US" sz="1210" dirty="0"/>
          </a:p>
        </p:txBody>
      </p:sp>
      <p:sp>
        <p:nvSpPr>
          <p:cNvPr id="46" name="Text 44"/>
          <p:cNvSpPr/>
          <p:nvPr/>
        </p:nvSpPr>
        <p:spPr>
          <a:xfrm>
            <a:off x="6206922" y="4379138"/>
            <a:ext cx="2765771" cy="46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ovunque: permettono al gradiente di fluire senza svanire.</a:t>
            </a:r>
            <a:endParaRPr lang="en-US" sz="100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219235" cy="519043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610" y="13831"/>
            <a:ext cx="64534" cy="519043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02823" y="295016"/>
            <a:ext cx="8758274" cy="55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22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vs GPT: Due Paradigmi</a:t>
            </a:r>
            <a:endParaRPr lang="en-US" sz="2622" dirty="0"/>
          </a:p>
        </p:txBody>
      </p:sp>
      <p:sp>
        <p:nvSpPr>
          <p:cNvPr id="5" name="Shape 3"/>
          <p:cNvSpPr/>
          <p:nvPr/>
        </p:nvSpPr>
        <p:spPr>
          <a:xfrm>
            <a:off x="202823" y="903487"/>
            <a:ext cx="8758274" cy="2765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02823" y="995679"/>
            <a:ext cx="8758274" cy="322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12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Transformer, filosofie opposte  —  entrambi usciti tra il 2018 e il 2019</a:t>
            </a:r>
            <a:endParaRPr lang="en-US" sz="1412" dirty="0"/>
          </a:p>
        </p:txBody>
      </p:sp>
      <p:sp>
        <p:nvSpPr>
          <p:cNvPr id="7" name="Shape 5"/>
          <p:cNvSpPr/>
          <p:nvPr/>
        </p:nvSpPr>
        <p:spPr>
          <a:xfrm>
            <a:off x="202824" y="1014117"/>
            <a:ext cx="4240848" cy="663785"/>
          </a:xfrm>
          <a:prstGeom prst="roundRect">
            <a:avLst>
              <a:gd name="adj" fmla="val 13889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5015" y="1050995"/>
            <a:ext cx="4056464" cy="350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18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</a:t>
            </a:r>
            <a:endParaRPr lang="en-US" sz="2218" dirty="0"/>
          </a:p>
        </p:txBody>
      </p:sp>
      <p:sp>
        <p:nvSpPr>
          <p:cNvPr id="9" name="Text 7"/>
          <p:cNvSpPr/>
          <p:nvPr/>
        </p:nvSpPr>
        <p:spPr>
          <a:xfrm>
            <a:off x="295015" y="1401326"/>
            <a:ext cx="4056464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(Google, 2018)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202824" y="1797753"/>
            <a:ext cx="4240848" cy="755977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2823" y="1797753"/>
            <a:ext cx="1198500" cy="755977"/>
          </a:xfrm>
          <a:prstGeom prst="roundRect">
            <a:avLst>
              <a:gd name="adj" fmla="val 8537"/>
            </a:avLst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248920" y="1908383"/>
            <a:ext cx="1106309" cy="53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Bidirezionale</a:t>
            </a:r>
            <a:endParaRPr lang="en-US" sz="1008" dirty="0"/>
          </a:p>
        </p:txBody>
      </p:sp>
      <p:sp>
        <p:nvSpPr>
          <p:cNvPr id="13" name="Text 11"/>
          <p:cNvSpPr/>
          <p:nvPr/>
        </p:nvSpPr>
        <p:spPr>
          <a:xfrm>
            <a:off x="1493517" y="1862287"/>
            <a:ext cx="2857963" cy="6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il testo in entrambe le direzioni: ogni token vede tutti gli altri.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202824" y="2609046"/>
            <a:ext cx="4240848" cy="755977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2823" y="2609046"/>
            <a:ext cx="1198500" cy="755977"/>
          </a:xfrm>
          <a:prstGeom prst="roundRect">
            <a:avLst>
              <a:gd name="adj" fmla="val 8537"/>
            </a:avLst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248920" y="2719675"/>
            <a:ext cx="1106309" cy="53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Training</a:t>
            </a:r>
            <a:endParaRPr lang="en-US" sz="1008" dirty="0"/>
          </a:p>
        </p:txBody>
      </p:sp>
      <p:sp>
        <p:nvSpPr>
          <p:cNvPr id="17" name="Text 15"/>
          <p:cNvSpPr/>
          <p:nvPr/>
        </p:nvSpPr>
        <p:spPr>
          <a:xfrm>
            <a:off x="1493517" y="2673580"/>
            <a:ext cx="2857963" cy="6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Language Model: predice token nascosti in posizioni casuali.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202824" y="3420339"/>
            <a:ext cx="4240848" cy="755977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2823" y="3420339"/>
            <a:ext cx="1198500" cy="755977"/>
          </a:xfrm>
          <a:prstGeom prst="roundRect">
            <a:avLst>
              <a:gd name="adj" fmla="val 8537"/>
            </a:avLst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248920" y="3530968"/>
            <a:ext cx="1106309" cy="53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008" dirty="0"/>
          </a:p>
        </p:txBody>
      </p:sp>
      <p:sp>
        <p:nvSpPr>
          <p:cNvPr id="21" name="Text 19"/>
          <p:cNvSpPr/>
          <p:nvPr/>
        </p:nvSpPr>
        <p:spPr>
          <a:xfrm>
            <a:off x="1493517" y="3484873"/>
            <a:ext cx="2857963" cy="6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generico poi fine-tuning su task specifici (classificazione, NER, QA).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202824" y="4231631"/>
            <a:ext cx="4240848" cy="755977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2823" y="4231631"/>
            <a:ext cx="1198500" cy="755977"/>
          </a:xfrm>
          <a:prstGeom prst="roundRect">
            <a:avLst>
              <a:gd name="adj" fmla="val 8537"/>
            </a:avLst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248920" y="4342261"/>
            <a:ext cx="1106309" cy="53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tipico</a:t>
            </a:r>
            <a:endParaRPr lang="en-US" sz="1008" dirty="0"/>
          </a:p>
        </p:txBody>
      </p:sp>
      <p:sp>
        <p:nvSpPr>
          <p:cNvPr id="25" name="Text 23"/>
          <p:cNvSpPr/>
          <p:nvPr/>
        </p:nvSpPr>
        <p:spPr>
          <a:xfrm>
            <a:off x="1493517" y="4296166"/>
            <a:ext cx="2857963" cy="6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 di testo, sentiment analysis, question answering estrattivo.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4674153" y="1014117"/>
            <a:ext cx="4240848" cy="663785"/>
          </a:xfrm>
          <a:prstGeom prst="roundRect">
            <a:avLst>
              <a:gd name="adj" fmla="val 13889"/>
            </a:avLst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66345" y="1050995"/>
            <a:ext cx="4056464" cy="350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18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</a:t>
            </a:r>
            <a:endParaRPr lang="en-US" sz="2218" dirty="0"/>
          </a:p>
        </p:txBody>
      </p:sp>
      <p:sp>
        <p:nvSpPr>
          <p:cNvPr id="28" name="Text 26"/>
          <p:cNvSpPr/>
          <p:nvPr/>
        </p:nvSpPr>
        <p:spPr>
          <a:xfrm>
            <a:off x="4766345" y="1401326"/>
            <a:ext cx="4056464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 (OpenAI, 2018)</a:t>
            </a:r>
            <a:endParaRPr lang="en-US" sz="1110" dirty="0"/>
          </a:p>
        </p:txBody>
      </p:sp>
      <p:sp>
        <p:nvSpPr>
          <p:cNvPr id="29" name="Shape 27"/>
          <p:cNvSpPr/>
          <p:nvPr/>
        </p:nvSpPr>
        <p:spPr>
          <a:xfrm>
            <a:off x="4674153" y="1797753"/>
            <a:ext cx="4240848" cy="755977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74153" y="1797753"/>
            <a:ext cx="1198500" cy="755977"/>
          </a:xfrm>
          <a:prstGeom prst="roundRect">
            <a:avLst>
              <a:gd name="adj" fmla="val 8537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720250" y="1908383"/>
            <a:ext cx="1106309" cy="53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Causale</a:t>
            </a:r>
            <a:endParaRPr lang="en-US" sz="1008" dirty="0"/>
          </a:p>
        </p:txBody>
      </p:sp>
      <p:sp>
        <p:nvSpPr>
          <p:cNvPr id="32" name="Text 30"/>
          <p:cNvSpPr/>
          <p:nvPr/>
        </p:nvSpPr>
        <p:spPr>
          <a:xfrm>
            <a:off x="5964847" y="1862287"/>
            <a:ext cx="2857963" cy="6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Vede solo i token precedenti: attenzione mascherata. Ideale per generazione.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4674153" y="2609046"/>
            <a:ext cx="4240848" cy="755977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74153" y="2609046"/>
            <a:ext cx="1198500" cy="755977"/>
          </a:xfrm>
          <a:prstGeom prst="roundRect">
            <a:avLst>
              <a:gd name="adj" fmla="val 8537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4720250" y="2719675"/>
            <a:ext cx="1106309" cy="53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 Training</a:t>
            </a:r>
            <a:endParaRPr lang="en-US" sz="1008" dirty="0"/>
          </a:p>
        </p:txBody>
      </p:sp>
      <p:sp>
        <p:nvSpPr>
          <p:cNvPr id="36" name="Text 34"/>
          <p:cNvSpPr/>
          <p:nvPr/>
        </p:nvSpPr>
        <p:spPr>
          <a:xfrm>
            <a:off x="5964847" y="2673580"/>
            <a:ext cx="2857963" cy="6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Language Model: predice il prossimo token in sequenza.</a:t>
            </a:r>
            <a:endParaRPr lang="en-US" sz="1110" dirty="0"/>
          </a:p>
        </p:txBody>
      </p:sp>
      <p:sp>
        <p:nvSpPr>
          <p:cNvPr id="37" name="Shape 35"/>
          <p:cNvSpPr/>
          <p:nvPr/>
        </p:nvSpPr>
        <p:spPr>
          <a:xfrm>
            <a:off x="4674153" y="3420339"/>
            <a:ext cx="4240848" cy="755977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74153" y="3420339"/>
            <a:ext cx="1198500" cy="755977"/>
          </a:xfrm>
          <a:prstGeom prst="roundRect">
            <a:avLst>
              <a:gd name="adj" fmla="val 8537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4720250" y="3530968"/>
            <a:ext cx="1106309" cy="53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</a:t>
            </a:r>
            <a:endParaRPr lang="en-US" sz="1008" dirty="0"/>
          </a:p>
        </p:txBody>
      </p:sp>
      <p:sp>
        <p:nvSpPr>
          <p:cNvPr id="40" name="Text 38"/>
          <p:cNvSpPr/>
          <p:nvPr/>
        </p:nvSpPr>
        <p:spPr>
          <a:xfrm>
            <a:off x="5964847" y="3484873"/>
            <a:ext cx="2857963" cy="6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 zero-shot senza fine-tuning: basta il prompt giusto.</a:t>
            </a:r>
            <a:endParaRPr lang="en-US" sz="1110" dirty="0"/>
          </a:p>
        </p:txBody>
      </p:sp>
      <p:sp>
        <p:nvSpPr>
          <p:cNvPr id="41" name="Shape 39"/>
          <p:cNvSpPr/>
          <p:nvPr/>
        </p:nvSpPr>
        <p:spPr>
          <a:xfrm>
            <a:off x="4674153" y="4231631"/>
            <a:ext cx="4240848" cy="755977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74153" y="4231631"/>
            <a:ext cx="1198500" cy="755977"/>
          </a:xfrm>
          <a:prstGeom prst="roundRect">
            <a:avLst>
              <a:gd name="adj" fmla="val 8537"/>
            </a:avLst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4720250" y="4342261"/>
            <a:ext cx="1106309" cy="53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tipico</a:t>
            </a:r>
            <a:endParaRPr lang="en-US" sz="1008" dirty="0"/>
          </a:p>
        </p:txBody>
      </p:sp>
      <p:sp>
        <p:nvSpPr>
          <p:cNvPr id="44" name="Text 42"/>
          <p:cNvSpPr/>
          <p:nvPr/>
        </p:nvSpPr>
        <p:spPr>
          <a:xfrm>
            <a:off x="5964847" y="4296166"/>
            <a:ext cx="2857963" cy="6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 testo, chatbot, code completion, riassunto, traduzione.</a:t>
            </a:r>
            <a:endParaRPr lang="en-US" sz="1110" dirty="0"/>
          </a:p>
        </p:txBody>
      </p:sp>
      <p:sp>
        <p:nvSpPr>
          <p:cNvPr id="45" name="Shape 43"/>
          <p:cNvSpPr/>
          <p:nvPr/>
        </p:nvSpPr>
        <p:spPr>
          <a:xfrm>
            <a:off x="202823" y="4978388"/>
            <a:ext cx="8758274" cy="165946"/>
          </a:xfrm>
          <a:prstGeom prst="roundRect">
            <a:avLst/>
          </a:prstGeom>
          <a:solidFill>
            <a:srgbClr val="F0F7FA"/>
          </a:solidFill>
          <a:ln/>
        </p:spPr>
      </p:sp>
      <p:sp>
        <p:nvSpPr>
          <p:cNvPr id="46" name="Text 44"/>
          <p:cNvSpPr/>
          <p:nvPr/>
        </p:nvSpPr>
        <p:spPr>
          <a:xfrm>
            <a:off x="202823" y="4978388"/>
            <a:ext cx="8758274" cy="25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1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 la maggior parte degli LLM generativi usa architettura decoder-only (GPT-style).</a:t>
            </a:r>
            <a:endParaRPr lang="en-US" sz="12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5235" y="-23465"/>
            <a:ext cx="9219235" cy="519043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" name="Shape 1"/>
          <p:cNvSpPr/>
          <p:nvPr/>
        </p:nvSpPr>
        <p:spPr>
          <a:xfrm>
            <a:off x="-84455" y="-32263"/>
            <a:ext cx="64534" cy="519043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127588" y="271551"/>
            <a:ext cx="8758274" cy="55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22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Laws: Da GPT-1 a GPT-4</a:t>
            </a:r>
            <a:endParaRPr lang="en-US" sz="2622" dirty="0"/>
          </a:p>
        </p:txBody>
      </p:sp>
      <p:sp>
        <p:nvSpPr>
          <p:cNvPr id="5" name="Shape 3"/>
          <p:cNvSpPr/>
          <p:nvPr/>
        </p:nvSpPr>
        <p:spPr>
          <a:xfrm>
            <a:off x="127588" y="880022"/>
            <a:ext cx="8758274" cy="2765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112088" y="949166"/>
            <a:ext cx="8758274" cy="322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12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412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prestazioni</a:t>
            </a:r>
            <a:r>
              <a:rPr lang="en-US" sz="1412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scalano in modo prevedibile con parametri, dati e compute</a:t>
            </a:r>
            <a:endParaRPr lang="en-US" sz="1412" dirty="0"/>
          </a:p>
        </p:txBody>
      </p:sp>
      <p:sp>
        <p:nvSpPr>
          <p:cNvPr id="7" name="Shape 5"/>
          <p:cNvSpPr/>
          <p:nvPr/>
        </p:nvSpPr>
        <p:spPr>
          <a:xfrm>
            <a:off x="1937339" y="4171289"/>
            <a:ext cx="1567270" cy="460962"/>
          </a:xfrm>
          <a:prstGeom prst="roundRect">
            <a:avLst>
              <a:gd name="adj" fmla="val 12000"/>
            </a:avLst>
          </a:prstGeom>
          <a:solidFill>
            <a:srgbClr val="0F346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37339" y="4245043"/>
            <a:ext cx="1567270" cy="27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117M</a:t>
            </a:r>
            <a:endParaRPr lang="en-US" sz="1110" dirty="0"/>
          </a:p>
        </p:txBody>
      </p:sp>
      <p:sp>
        <p:nvSpPr>
          <p:cNvPr id="9" name="Text 7"/>
          <p:cNvSpPr/>
          <p:nvPr/>
        </p:nvSpPr>
        <p:spPr>
          <a:xfrm>
            <a:off x="1937339" y="4659909"/>
            <a:ext cx="1567270" cy="387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</a:t>
            </a:r>
            <a:endParaRPr lang="en-US" sz="1008" dirty="0"/>
          </a:p>
          <a:p>
            <a:pPr algn="ctr"/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008" dirty="0"/>
          </a:p>
        </p:txBody>
      </p:sp>
      <p:sp>
        <p:nvSpPr>
          <p:cNvPr id="10" name="Shape 8"/>
          <p:cNvSpPr/>
          <p:nvPr/>
        </p:nvSpPr>
        <p:spPr>
          <a:xfrm>
            <a:off x="3688994" y="3664229"/>
            <a:ext cx="1567270" cy="968020"/>
          </a:xfrm>
          <a:prstGeom prst="roundRect">
            <a:avLst>
              <a:gd name="adj" fmla="val 5714"/>
            </a:avLst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88994" y="3737986"/>
            <a:ext cx="1567270" cy="27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</a:t>
            </a:r>
            <a:endParaRPr lang="en-US" sz="1110" dirty="0"/>
          </a:p>
        </p:txBody>
      </p:sp>
      <p:sp>
        <p:nvSpPr>
          <p:cNvPr id="12" name="Text 10"/>
          <p:cNvSpPr/>
          <p:nvPr/>
        </p:nvSpPr>
        <p:spPr>
          <a:xfrm>
            <a:off x="3688994" y="4659909"/>
            <a:ext cx="1567270" cy="387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</a:t>
            </a:r>
            <a:endParaRPr lang="en-US" sz="1008" dirty="0"/>
          </a:p>
          <a:p>
            <a:pPr algn="ctr"/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8" dirty="0"/>
          </a:p>
        </p:txBody>
      </p:sp>
      <p:sp>
        <p:nvSpPr>
          <p:cNvPr id="13" name="Shape 11"/>
          <p:cNvSpPr/>
          <p:nvPr/>
        </p:nvSpPr>
        <p:spPr>
          <a:xfrm>
            <a:off x="5440648" y="3157172"/>
            <a:ext cx="1567270" cy="1475078"/>
          </a:xfrm>
          <a:prstGeom prst="roundRect">
            <a:avLst>
              <a:gd name="adj" fmla="val 3750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0648" y="4659909"/>
            <a:ext cx="1567270" cy="387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endParaRPr lang="en-US" sz="1008" dirty="0"/>
          </a:p>
          <a:p>
            <a:pPr algn="ctr"/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8" dirty="0"/>
          </a:p>
        </p:txBody>
      </p:sp>
      <p:sp>
        <p:nvSpPr>
          <p:cNvPr id="17" name="Text 15"/>
          <p:cNvSpPr/>
          <p:nvPr/>
        </p:nvSpPr>
        <p:spPr>
          <a:xfrm>
            <a:off x="5382553" y="3219170"/>
            <a:ext cx="1567270" cy="27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175B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7134208" y="2143057"/>
            <a:ext cx="1567270" cy="2489193"/>
          </a:xfrm>
          <a:prstGeom prst="roundRect">
            <a:avLst>
              <a:gd name="adj" fmla="val 3529"/>
            </a:avLst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82658" y="2045361"/>
            <a:ext cx="1567270" cy="27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~1T?</a:t>
            </a:r>
            <a:endParaRPr lang="en-US" sz="1110" dirty="0"/>
          </a:p>
        </p:txBody>
      </p:sp>
      <p:sp>
        <p:nvSpPr>
          <p:cNvPr id="21" name="Text 19"/>
          <p:cNvSpPr/>
          <p:nvPr/>
        </p:nvSpPr>
        <p:spPr>
          <a:xfrm>
            <a:off x="7134208" y="4659909"/>
            <a:ext cx="1567270" cy="387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008" dirty="0"/>
          </a:p>
          <a:p>
            <a:pPr algn="ctr"/>
            <a:r>
              <a:rPr lang="en-US" sz="100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8" dirty="0"/>
          </a:p>
        </p:txBody>
      </p:sp>
      <p:sp>
        <p:nvSpPr>
          <p:cNvPr id="22" name="Text 20"/>
          <p:cNvSpPr/>
          <p:nvPr/>
        </p:nvSpPr>
        <p:spPr>
          <a:xfrm>
            <a:off x="699180" y="893850"/>
            <a:ext cx="2857963" cy="36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12" b="1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Capacità</a:t>
            </a:r>
            <a:r>
              <a:rPr lang="en-US" sz="1412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emergenti</a:t>
            </a:r>
            <a:endParaRPr lang="en-US" sz="1412" dirty="0"/>
          </a:p>
        </p:txBody>
      </p:sp>
      <p:sp>
        <p:nvSpPr>
          <p:cNvPr id="23" name="Shape 21"/>
          <p:cNvSpPr/>
          <p:nvPr/>
        </p:nvSpPr>
        <p:spPr>
          <a:xfrm>
            <a:off x="68543" y="1280165"/>
            <a:ext cx="2857963" cy="516277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23859" y="1353919"/>
            <a:ext cx="276577" cy="276577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25" name="Text 23"/>
          <p:cNvSpPr/>
          <p:nvPr/>
        </p:nvSpPr>
        <p:spPr>
          <a:xfrm>
            <a:off x="511066" y="1335479"/>
            <a:ext cx="2350905" cy="424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Chain-of-Thought: ragionamento step-by-step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68543" y="1879415"/>
            <a:ext cx="2857963" cy="516277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23859" y="1953169"/>
            <a:ext cx="276577" cy="276577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28" name="Text 26"/>
          <p:cNvSpPr/>
          <p:nvPr/>
        </p:nvSpPr>
        <p:spPr>
          <a:xfrm>
            <a:off x="511066" y="1934730"/>
            <a:ext cx="2350905" cy="424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learning: imparare da esempi nel prompt</a:t>
            </a:r>
            <a:endParaRPr lang="en-US" sz="1110" dirty="0"/>
          </a:p>
        </p:txBody>
      </p:sp>
      <p:sp>
        <p:nvSpPr>
          <p:cNvPr id="29" name="Shape 27"/>
          <p:cNvSpPr/>
          <p:nvPr/>
        </p:nvSpPr>
        <p:spPr>
          <a:xfrm>
            <a:off x="68543" y="2478665"/>
            <a:ext cx="2857963" cy="516277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23859" y="2552420"/>
            <a:ext cx="276577" cy="276577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1" name="Text 29"/>
          <p:cNvSpPr/>
          <p:nvPr/>
        </p:nvSpPr>
        <p:spPr>
          <a:xfrm>
            <a:off x="511066" y="2533981"/>
            <a:ext cx="2350905" cy="424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following: capire comandi in linguaggio naturale</a:t>
            </a:r>
            <a:endParaRPr lang="en-US" sz="1110" dirty="0"/>
          </a:p>
        </p:txBody>
      </p:sp>
      <p:sp>
        <p:nvSpPr>
          <p:cNvPr id="32" name="Shape 30"/>
          <p:cNvSpPr/>
          <p:nvPr/>
        </p:nvSpPr>
        <p:spPr>
          <a:xfrm>
            <a:off x="68543" y="3077916"/>
            <a:ext cx="2857963" cy="516277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23859" y="3151670"/>
            <a:ext cx="276577" cy="276577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4" name="Text 32"/>
          <p:cNvSpPr/>
          <p:nvPr/>
        </p:nvSpPr>
        <p:spPr>
          <a:xfrm>
            <a:off x="511066" y="3133231"/>
            <a:ext cx="2350905" cy="424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use: chiamare API, leggere file, scrivere codice</a:t>
            </a:r>
            <a:endParaRPr lang="en-US" sz="111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CF0714D5-A40B-B462-EFDD-EDC5ADD1B3C7}"/>
              </a:ext>
            </a:extLst>
          </p:cNvPr>
          <p:cNvSpPr/>
          <p:nvPr/>
        </p:nvSpPr>
        <p:spPr>
          <a:xfrm>
            <a:off x="7128803" y="2171420"/>
            <a:ext cx="1567270" cy="27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1.8T</a:t>
            </a:r>
            <a:endParaRPr lang="en-US" sz="11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3465"/>
            <a:ext cx="9219235" cy="519043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" name="Shape 1"/>
          <p:cNvSpPr/>
          <p:nvPr/>
        </p:nvSpPr>
        <p:spPr>
          <a:xfrm>
            <a:off x="-15875" y="-23465"/>
            <a:ext cx="64534" cy="519043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02823" y="271551"/>
            <a:ext cx="8758274" cy="55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22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Panorama LLM Oggi</a:t>
            </a:r>
            <a:endParaRPr lang="en-US" sz="2622" dirty="0"/>
          </a:p>
        </p:txBody>
      </p:sp>
      <p:sp>
        <p:nvSpPr>
          <p:cNvPr id="5" name="Shape 3"/>
          <p:cNvSpPr/>
          <p:nvPr/>
        </p:nvSpPr>
        <p:spPr>
          <a:xfrm>
            <a:off x="202823" y="880022"/>
            <a:ext cx="8758274" cy="2765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02823" y="972214"/>
            <a:ext cx="8758274" cy="322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12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 proprietari e open-weight — un ecosistema ricco e in rapida evoluzione</a:t>
            </a:r>
            <a:endParaRPr lang="en-US" sz="1412" dirty="0"/>
          </a:p>
        </p:txBody>
      </p:sp>
      <p:sp>
        <p:nvSpPr>
          <p:cNvPr id="7" name="Shape 5"/>
          <p:cNvSpPr/>
          <p:nvPr/>
        </p:nvSpPr>
        <p:spPr>
          <a:xfrm>
            <a:off x="202824" y="990652"/>
            <a:ext cx="4240848" cy="460962"/>
          </a:xfrm>
          <a:prstGeom prst="roundRect">
            <a:avLst>
              <a:gd name="adj" fmla="val 16000"/>
            </a:avLst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5015" y="1064407"/>
            <a:ext cx="4056464" cy="322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Proprietari</a:t>
            </a:r>
            <a:endParaRPr lang="en-US" sz="1613" dirty="0"/>
          </a:p>
        </p:txBody>
      </p:sp>
      <p:sp>
        <p:nvSpPr>
          <p:cNvPr id="9" name="Shape 7"/>
          <p:cNvSpPr/>
          <p:nvPr/>
        </p:nvSpPr>
        <p:spPr>
          <a:xfrm>
            <a:off x="202824" y="1562246"/>
            <a:ext cx="4240848" cy="92192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4385" y="1553027"/>
            <a:ext cx="73754" cy="921923"/>
          </a:xfrm>
          <a:prstGeom prst="roundRect">
            <a:avLst/>
          </a:prstGeom>
          <a:solidFill>
            <a:srgbClr val="0A2342"/>
          </a:solidFill>
          <a:ln/>
        </p:spPr>
      </p:sp>
      <p:sp>
        <p:nvSpPr>
          <p:cNvPr id="11" name="Text 9"/>
          <p:cNvSpPr/>
          <p:nvPr/>
        </p:nvSpPr>
        <p:spPr>
          <a:xfrm>
            <a:off x="387208" y="1617560"/>
            <a:ext cx="3964271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1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11" dirty="0"/>
          </a:p>
        </p:txBody>
      </p:sp>
      <p:sp>
        <p:nvSpPr>
          <p:cNvPr id="12" name="Text 10"/>
          <p:cNvSpPr/>
          <p:nvPr/>
        </p:nvSpPr>
        <p:spPr>
          <a:xfrm>
            <a:off x="387208" y="1912577"/>
            <a:ext cx="3964271" cy="20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8" dirty="0"/>
          </a:p>
        </p:txBody>
      </p:sp>
      <p:sp>
        <p:nvSpPr>
          <p:cNvPr id="13" name="Text 11"/>
          <p:cNvSpPr/>
          <p:nvPr/>
        </p:nvSpPr>
        <p:spPr>
          <a:xfrm>
            <a:off x="387208" y="2115398"/>
            <a:ext cx="3964271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Consitutional AI, contesto lungo, analisi documenti</a:t>
            </a:r>
            <a:endParaRPr lang="en-US" sz="1008" dirty="0"/>
          </a:p>
        </p:txBody>
      </p:sp>
      <p:sp>
        <p:nvSpPr>
          <p:cNvPr id="14" name="Shape 12"/>
          <p:cNvSpPr/>
          <p:nvPr/>
        </p:nvSpPr>
        <p:spPr>
          <a:xfrm>
            <a:off x="202824" y="2622458"/>
            <a:ext cx="4240848" cy="92192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4385" y="2635486"/>
            <a:ext cx="73754" cy="921923"/>
          </a:xfrm>
          <a:prstGeom prst="roundRect">
            <a:avLst/>
          </a:prstGeom>
          <a:solidFill>
            <a:srgbClr val="0A2342"/>
          </a:solidFill>
          <a:ln/>
        </p:spPr>
      </p:sp>
      <p:sp>
        <p:nvSpPr>
          <p:cNvPr id="16" name="Text 14"/>
          <p:cNvSpPr/>
          <p:nvPr/>
        </p:nvSpPr>
        <p:spPr>
          <a:xfrm>
            <a:off x="387208" y="2677773"/>
            <a:ext cx="3964271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1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11" dirty="0"/>
          </a:p>
        </p:txBody>
      </p:sp>
      <p:sp>
        <p:nvSpPr>
          <p:cNvPr id="17" name="Text 15"/>
          <p:cNvSpPr/>
          <p:nvPr/>
        </p:nvSpPr>
        <p:spPr>
          <a:xfrm>
            <a:off x="387208" y="2972788"/>
            <a:ext cx="3964271" cy="20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8" dirty="0"/>
          </a:p>
        </p:txBody>
      </p:sp>
      <p:sp>
        <p:nvSpPr>
          <p:cNvPr id="18" name="Text 16"/>
          <p:cNvSpPr/>
          <p:nvPr/>
        </p:nvSpPr>
        <p:spPr>
          <a:xfrm>
            <a:off x="387208" y="3175610"/>
            <a:ext cx="3964271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Multimodale (testo/immagine/audio), tool calling</a:t>
            </a:r>
            <a:endParaRPr lang="en-US" sz="1008" dirty="0"/>
          </a:p>
        </p:txBody>
      </p:sp>
      <p:sp>
        <p:nvSpPr>
          <p:cNvPr id="19" name="Shape 17"/>
          <p:cNvSpPr/>
          <p:nvPr/>
        </p:nvSpPr>
        <p:spPr>
          <a:xfrm>
            <a:off x="202824" y="3682670"/>
            <a:ext cx="4240848" cy="92192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4385" y="3707549"/>
            <a:ext cx="73754" cy="921923"/>
          </a:xfrm>
          <a:prstGeom prst="roundRect">
            <a:avLst/>
          </a:prstGeom>
          <a:solidFill>
            <a:srgbClr val="0A2342"/>
          </a:solidFill>
          <a:ln/>
        </p:spPr>
      </p:sp>
      <p:sp>
        <p:nvSpPr>
          <p:cNvPr id="21" name="Text 19"/>
          <p:cNvSpPr/>
          <p:nvPr/>
        </p:nvSpPr>
        <p:spPr>
          <a:xfrm>
            <a:off x="387208" y="3737984"/>
            <a:ext cx="3964271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1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11" dirty="0"/>
          </a:p>
        </p:txBody>
      </p:sp>
      <p:sp>
        <p:nvSpPr>
          <p:cNvPr id="22" name="Text 20"/>
          <p:cNvSpPr/>
          <p:nvPr/>
        </p:nvSpPr>
        <p:spPr>
          <a:xfrm>
            <a:off x="387208" y="4033001"/>
            <a:ext cx="3964271" cy="20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8" dirty="0"/>
          </a:p>
        </p:txBody>
      </p:sp>
      <p:sp>
        <p:nvSpPr>
          <p:cNvPr id="23" name="Text 21"/>
          <p:cNvSpPr/>
          <p:nvPr/>
        </p:nvSpPr>
        <p:spPr>
          <a:xfrm>
            <a:off x="387208" y="4235823"/>
            <a:ext cx="3964271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 1M token, integrazione Google Workspace</a:t>
            </a:r>
            <a:endParaRPr lang="en-US" sz="1008" dirty="0"/>
          </a:p>
        </p:txBody>
      </p:sp>
      <p:sp>
        <p:nvSpPr>
          <p:cNvPr id="24" name="Shape 22"/>
          <p:cNvSpPr/>
          <p:nvPr/>
        </p:nvSpPr>
        <p:spPr>
          <a:xfrm>
            <a:off x="4674153" y="990652"/>
            <a:ext cx="4240848" cy="460962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66345" y="1064407"/>
            <a:ext cx="4056464" cy="322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</a:t>
            </a:r>
            <a:endParaRPr lang="en-US" sz="1613" dirty="0"/>
          </a:p>
        </p:txBody>
      </p:sp>
      <p:sp>
        <p:nvSpPr>
          <p:cNvPr id="26" name="Shape 24"/>
          <p:cNvSpPr/>
          <p:nvPr/>
        </p:nvSpPr>
        <p:spPr>
          <a:xfrm>
            <a:off x="4674153" y="1562246"/>
            <a:ext cx="4240848" cy="92192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74152" y="1562246"/>
            <a:ext cx="73754" cy="921923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858538" y="1617560"/>
            <a:ext cx="3964271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1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3.x</a:t>
            </a:r>
            <a:endParaRPr lang="en-US" sz="1311" dirty="0"/>
          </a:p>
        </p:txBody>
      </p:sp>
      <p:sp>
        <p:nvSpPr>
          <p:cNvPr id="29" name="Text 27"/>
          <p:cNvSpPr/>
          <p:nvPr/>
        </p:nvSpPr>
        <p:spPr>
          <a:xfrm>
            <a:off x="4858538" y="1912577"/>
            <a:ext cx="3964271" cy="20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008" dirty="0"/>
          </a:p>
        </p:txBody>
      </p:sp>
      <p:sp>
        <p:nvSpPr>
          <p:cNvPr id="30" name="Text 28"/>
          <p:cNvSpPr/>
          <p:nvPr/>
        </p:nvSpPr>
        <p:spPr>
          <a:xfrm>
            <a:off x="4858538" y="2115398"/>
            <a:ext cx="3964271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 8B-405B, ottimi per deployment on-premise</a:t>
            </a:r>
            <a:endParaRPr lang="en-US" sz="1008" dirty="0"/>
          </a:p>
        </p:txBody>
      </p:sp>
      <p:sp>
        <p:nvSpPr>
          <p:cNvPr id="31" name="Shape 29"/>
          <p:cNvSpPr/>
          <p:nvPr/>
        </p:nvSpPr>
        <p:spPr>
          <a:xfrm>
            <a:off x="4674153" y="2622458"/>
            <a:ext cx="4240848" cy="92192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74152" y="2622458"/>
            <a:ext cx="73754" cy="921923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858538" y="2677773"/>
            <a:ext cx="3964271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1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Mistral/Mixtral</a:t>
            </a:r>
            <a:endParaRPr lang="en-US" sz="1311" dirty="0"/>
          </a:p>
        </p:txBody>
      </p:sp>
      <p:sp>
        <p:nvSpPr>
          <p:cNvPr id="34" name="Text 32"/>
          <p:cNvSpPr/>
          <p:nvPr/>
        </p:nvSpPr>
        <p:spPr>
          <a:xfrm>
            <a:off x="4858538" y="2972788"/>
            <a:ext cx="3964271" cy="20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1008" dirty="0"/>
          </a:p>
        </p:txBody>
      </p:sp>
      <p:sp>
        <p:nvSpPr>
          <p:cNvPr id="35" name="Text 33"/>
          <p:cNvSpPr/>
          <p:nvPr/>
        </p:nvSpPr>
        <p:spPr>
          <a:xfrm>
            <a:off x="4858538" y="3175610"/>
            <a:ext cx="3964271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architecture, efficiente, multilingue</a:t>
            </a:r>
            <a:endParaRPr lang="en-US" sz="1008" dirty="0"/>
          </a:p>
        </p:txBody>
      </p:sp>
      <p:sp>
        <p:nvSpPr>
          <p:cNvPr id="36" name="Shape 34"/>
          <p:cNvSpPr/>
          <p:nvPr/>
        </p:nvSpPr>
        <p:spPr>
          <a:xfrm>
            <a:off x="4674153" y="3682670"/>
            <a:ext cx="4240848" cy="92192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37" name="Shape 35"/>
          <p:cNvSpPr/>
          <p:nvPr/>
        </p:nvSpPr>
        <p:spPr>
          <a:xfrm>
            <a:off x="4674152" y="3682670"/>
            <a:ext cx="73754" cy="921923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4858538" y="3737984"/>
            <a:ext cx="3964271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1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</a:t>
            </a:r>
            <a:endParaRPr lang="en-US" sz="1311" dirty="0"/>
          </a:p>
        </p:txBody>
      </p:sp>
      <p:sp>
        <p:nvSpPr>
          <p:cNvPr id="39" name="Text 37"/>
          <p:cNvSpPr/>
          <p:nvPr/>
        </p:nvSpPr>
        <p:spPr>
          <a:xfrm>
            <a:off x="4858538" y="4033001"/>
            <a:ext cx="3964271" cy="20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008" dirty="0"/>
          </a:p>
        </p:txBody>
      </p:sp>
      <p:sp>
        <p:nvSpPr>
          <p:cNvPr id="40" name="Text 38"/>
          <p:cNvSpPr/>
          <p:nvPr/>
        </p:nvSpPr>
        <p:spPr>
          <a:xfrm>
            <a:off x="4858538" y="4235823"/>
            <a:ext cx="3964271" cy="29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8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language models, eccellenti per mobile/edge</a:t>
            </a:r>
            <a:endParaRPr lang="en-US" sz="1008" dirty="0"/>
          </a:p>
        </p:txBody>
      </p:sp>
      <p:sp>
        <p:nvSpPr>
          <p:cNvPr id="41" name="Shape 39"/>
          <p:cNvSpPr/>
          <p:nvPr/>
        </p:nvSpPr>
        <p:spPr>
          <a:xfrm>
            <a:off x="202823" y="4788977"/>
            <a:ext cx="8758274" cy="295016"/>
          </a:xfrm>
          <a:prstGeom prst="roundRect">
            <a:avLst>
              <a:gd name="adj" fmla="val 18750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22674" y="4835072"/>
            <a:ext cx="8527793" cy="2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b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Tendenza: </a:t>
            </a:r>
            <a:r>
              <a:rPr lang="en-US" sz="1110" b="1" dirty="0" err="1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</a:t>
            </a:r>
            <a:r>
              <a:rPr lang="en-US" sz="1110" b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10" b="1" dirty="0" err="1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110" b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piccoli ma efficienti, multimodali, con contesti sempre piu lunghi.</a:t>
            </a:r>
            <a:endParaRPr lang="en-US" sz="11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87" y="0"/>
            <a:ext cx="9219235" cy="519043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" name="Shape 1"/>
          <p:cNvSpPr/>
          <p:nvPr/>
        </p:nvSpPr>
        <p:spPr>
          <a:xfrm>
            <a:off x="-6885" y="0"/>
            <a:ext cx="64534" cy="519043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195936" y="295016"/>
            <a:ext cx="8758274" cy="55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22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What? Come Funziona la Generazione</a:t>
            </a:r>
            <a:endParaRPr lang="en-US" sz="2622" dirty="0"/>
          </a:p>
        </p:txBody>
      </p:sp>
      <p:sp>
        <p:nvSpPr>
          <p:cNvPr id="5" name="Shape 3"/>
          <p:cNvSpPr/>
          <p:nvPr/>
        </p:nvSpPr>
        <p:spPr>
          <a:xfrm>
            <a:off x="195936" y="903487"/>
            <a:ext cx="8758274" cy="2765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95936" y="995679"/>
            <a:ext cx="8758274" cy="322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12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</a:t>
            </a:r>
            <a:r>
              <a:rPr lang="en-US" sz="1412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</a:t>
            </a:r>
            <a:r>
              <a:rPr lang="en-US" sz="1412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una sequenza di scelte probabilistiche — token per token</a:t>
            </a:r>
            <a:endParaRPr lang="en-US" sz="1412" dirty="0"/>
          </a:p>
        </p:txBody>
      </p:sp>
      <p:sp>
        <p:nvSpPr>
          <p:cNvPr id="7" name="Text 5"/>
          <p:cNvSpPr/>
          <p:nvPr/>
        </p:nvSpPr>
        <p:spPr>
          <a:xfrm>
            <a:off x="195937" y="1014117"/>
            <a:ext cx="5070580" cy="36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12" dirty="0"/>
          </a:p>
        </p:txBody>
      </p:sp>
      <p:sp>
        <p:nvSpPr>
          <p:cNvPr id="8" name="Shape 6"/>
          <p:cNvSpPr/>
          <p:nvPr/>
        </p:nvSpPr>
        <p:spPr>
          <a:xfrm>
            <a:off x="195936" y="1493518"/>
            <a:ext cx="1309132" cy="783635"/>
          </a:xfrm>
          <a:prstGeom prst="roundRect">
            <a:avLst>
              <a:gd name="adj" fmla="val 8235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5936" y="1539614"/>
            <a:ext cx="1309132" cy="69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8" dirty="0"/>
          </a:p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Contesto</a:t>
            </a:r>
            <a:endParaRPr lang="en-US" sz="1008" dirty="0"/>
          </a:p>
        </p:txBody>
      </p:sp>
      <p:sp>
        <p:nvSpPr>
          <p:cNvPr id="10" name="Shape 8"/>
          <p:cNvSpPr/>
          <p:nvPr/>
        </p:nvSpPr>
        <p:spPr>
          <a:xfrm>
            <a:off x="1505069" y="1880725"/>
            <a:ext cx="184384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89452" y="1493518"/>
            <a:ext cx="1309132" cy="783635"/>
          </a:xfrm>
          <a:prstGeom prst="roundRect">
            <a:avLst>
              <a:gd name="adj" fmla="val 8235"/>
            </a:avLst>
          </a:prstGeom>
          <a:solidFill>
            <a:srgbClr val="0F346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89452" y="1539614"/>
            <a:ext cx="1309132" cy="69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08" dirty="0"/>
          </a:p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(forward pass)</a:t>
            </a:r>
            <a:endParaRPr lang="en-US" sz="1008" dirty="0"/>
          </a:p>
        </p:txBody>
      </p:sp>
      <p:sp>
        <p:nvSpPr>
          <p:cNvPr id="13" name="Shape 11"/>
          <p:cNvSpPr/>
          <p:nvPr/>
        </p:nvSpPr>
        <p:spPr>
          <a:xfrm>
            <a:off x="2998585" y="1880725"/>
            <a:ext cx="184384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968" y="1493518"/>
            <a:ext cx="1309132" cy="783635"/>
          </a:xfrm>
          <a:prstGeom prst="roundRect">
            <a:avLst>
              <a:gd name="adj" fmla="val 8235"/>
            </a:avLst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82968" y="1539614"/>
            <a:ext cx="1309132" cy="69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su</a:t>
            </a:r>
            <a:endParaRPr lang="en-US" sz="1008" dirty="0"/>
          </a:p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vocabolario</a:t>
            </a:r>
            <a:endParaRPr lang="en-US" sz="1008" dirty="0"/>
          </a:p>
        </p:txBody>
      </p:sp>
      <p:sp>
        <p:nvSpPr>
          <p:cNvPr id="16" name="Shape 14"/>
          <p:cNvSpPr/>
          <p:nvPr/>
        </p:nvSpPr>
        <p:spPr>
          <a:xfrm>
            <a:off x="4492101" y="1880725"/>
            <a:ext cx="184384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6484" y="1493518"/>
            <a:ext cx="1309132" cy="783635"/>
          </a:xfrm>
          <a:prstGeom prst="roundRect">
            <a:avLst>
              <a:gd name="adj" fmla="val 8235"/>
            </a:avLst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76484" y="1539614"/>
            <a:ext cx="1309132" cy="69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008" dirty="0"/>
          </a:p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(temperatura)</a:t>
            </a:r>
            <a:endParaRPr lang="en-US" sz="1008" dirty="0"/>
          </a:p>
        </p:txBody>
      </p:sp>
      <p:sp>
        <p:nvSpPr>
          <p:cNvPr id="19" name="Shape 17"/>
          <p:cNvSpPr/>
          <p:nvPr/>
        </p:nvSpPr>
        <p:spPr>
          <a:xfrm>
            <a:off x="5985617" y="1880725"/>
            <a:ext cx="184384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0000" y="1493518"/>
            <a:ext cx="1309132" cy="783635"/>
          </a:xfrm>
          <a:prstGeom prst="roundRect">
            <a:avLst>
              <a:gd name="adj" fmla="val 8235"/>
            </a:avLst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70000" y="1539614"/>
            <a:ext cx="1309132" cy="69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8" dirty="0"/>
          </a:p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selezionato</a:t>
            </a:r>
            <a:endParaRPr lang="en-US" sz="1008" dirty="0"/>
          </a:p>
        </p:txBody>
      </p:sp>
      <p:sp>
        <p:nvSpPr>
          <p:cNvPr id="22" name="Shape 20"/>
          <p:cNvSpPr/>
          <p:nvPr/>
        </p:nvSpPr>
        <p:spPr>
          <a:xfrm>
            <a:off x="7479133" y="1880725"/>
            <a:ext cx="184384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63516" y="1493518"/>
            <a:ext cx="1309132" cy="783635"/>
          </a:xfrm>
          <a:prstGeom prst="roundRect">
            <a:avLst>
              <a:gd name="adj" fmla="val 8235"/>
            </a:avLst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63516" y="1539614"/>
            <a:ext cx="1309132" cy="69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Aggiunto al</a:t>
            </a:r>
            <a:endParaRPr lang="en-US" sz="1008" dirty="0"/>
          </a:p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1008" dirty="0"/>
          </a:p>
        </p:txBody>
      </p:sp>
      <p:sp>
        <p:nvSpPr>
          <p:cNvPr id="25" name="Text 23"/>
          <p:cNvSpPr/>
          <p:nvPr/>
        </p:nvSpPr>
        <p:spPr>
          <a:xfrm>
            <a:off x="195936" y="2443098"/>
            <a:ext cx="8758274" cy="36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12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 di Sampling</a:t>
            </a:r>
            <a:endParaRPr lang="en-US" sz="1412" dirty="0"/>
          </a:p>
        </p:txBody>
      </p:sp>
      <p:sp>
        <p:nvSpPr>
          <p:cNvPr id="26" name="Shape 24"/>
          <p:cNvSpPr/>
          <p:nvPr/>
        </p:nvSpPr>
        <p:spPr>
          <a:xfrm>
            <a:off x="195936" y="2931719"/>
            <a:ext cx="4517425" cy="663785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95937" y="2931719"/>
            <a:ext cx="1428982" cy="663785"/>
          </a:xfrm>
          <a:prstGeom prst="roundRect">
            <a:avLst>
              <a:gd name="adj" fmla="val 9722"/>
            </a:avLst>
          </a:prstGeom>
          <a:solidFill>
            <a:srgbClr val="0A2342"/>
          </a:solidFill>
          <a:ln/>
        </p:spPr>
      </p:sp>
      <p:sp>
        <p:nvSpPr>
          <p:cNvPr id="28" name="Text 26"/>
          <p:cNvSpPr/>
          <p:nvPr/>
        </p:nvSpPr>
        <p:spPr>
          <a:xfrm>
            <a:off x="242033" y="3097665"/>
            <a:ext cx="1336789" cy="331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008" dirty="0"/>
          </a:p>
        </p:txBody>
      </p:sp>
      <p:sp>
        <p:nvSpPr>
          <p:cNvPr id="29" name="Text 27"/>
          <p:cNvSpPr/>
          <p:nvPr/>
        </p:nvSpPr>
        <p:spPr>
          <a:xfrm>
            <a:off x="1717110" y="3005472"/>
            <a:ext cx="2922498" cy="53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il token con probabilita massima. Deterministico, spesso ripetitivo.</a:t>
            </a:r>
            <a:endParaRPr lang="en-US" sz="1110" dirty="0"/>
          </a:p>
        </p:txBody>
      </p:sp>
      <p:sp>
        <p:nvSpPr>
          <p:cNvPr id="30" name="Shape 28"/>
          <p:cNvSpPr/>
          <p:nvPr/>
        </p:nvSpPr>
        <p:spPr>
          <a:xfrm>
            <a:off x="4916186" y="2931719"/>
            <a:ext cx="4031877" cy="663785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31" name="Shape 29"/>
          <p:cNvSpPr/>
          <p:nvPr/>
        </p:nvSpPr>
        <p:spPr>
          <a:xfrm>
            <a:off x="4916185" y="2931719"/>
            <a:ext cx="1428982" cy="663785"/>
          </a:xfrm>
          <a:prstGeom prst="roundRect">
            <a:avLst>
              <a:gd name="adj" fmla="val 9722"/>
            </a:avLst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4962282" y="3097665"/>
            <a:ext cx="1336789" cy="331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1008" dirty="0"/>
          </a:p>
        </p:txBody>
      </p:sp>
      <p:sp>
        <p:nvSpPr>
          <p:cNvPr id="33" name="Text 31"/>
          <p:cNvSpPr/>
          <p:nvPr/>
        </p:nvSpPr>
        <p:spPr>
          <a:xfrm>
            <a:off x="6437359" y="3005472"/>
            <a:ext cx="2922498" cy="53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&lt; 1 = piu conservativo; T &gt; 1 = piu creativo/casuale. Scala i logit prima</a:t>
            </a:r>
            <a:endParaRPr lang="en-US" sz="1110" dirty="0"/>
          </a:p>
        </p:txBody>
      </p:sp>
      <p:sp>
        <p:nvSpPr>
          <p:cNvPr id="34" name="Shape 32"/>
          <p:cNvSpPr/>
          <p:nvPr/>
        </p:nvSpPr>
        <p:spPr>
          <a:xfrm>
            <a:off x="195936" y="3696915"/>
            <a:ext cx="4517425" cy="663785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95937" y="3696915"/>
            <a:ext cx="1428982" cy="663785"/>
          </a:xfrm>
          <a:prstGeom prst="roundRect">
            <a:avLst>
              <a:gd name="adj" fmla="val 9722"/>
            </a:avLst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242033" y="3862861"/>
            <a:ext cx="1336789" cy="331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008" dirty="0"/>
          </a:p>
        </p:txBody>
      </p:sp>
      <p:sp>
        <p:nvSpPr>
          <p:cNvPr id="37" name="Text 35"/>
          <p:cNvSpPr/>
          <p:nvPr/>
        </p:nvSpPr>
        <p:spPr>
          <a:xfrm>
            <a:off x="1717110" y="3770668"/>
            <a:ext cx="2922498" cy="53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Campiona solo tra i k token piu probabili. Bilancia coerenza e varieta.</a:t>
            </a:r>
            <a:endParaRPr lang="en-US" sz="1110" dirty="0"/>
          </a:p>
        </p:txBody>
      </p:sp>
      <p:sp>
        <p:nvSpPr>
          <p:cNvPr id="38" name="Shape 36"/>
          <p:cNvSpPr/>
          <p:nvPr/>
        </p:nvSpPr>
        <p:spPr>
          <a:xfrm>
            <a:off x="4916187" y="3696915"/>
            <a:ext cx="4038024" cy="663785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16185" y="3696915"/>
            <a:ext cx="1428982" cy="663785"/>
          </a:xfrm>
          <a:prstGeom prst="roundRect">
            <a:avLst>
              <a:gd name="adj" fmla="val 9722"/>
            </a:avLst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4962282" y="3862861"/>
            <a:ext cx="1336789" cy="331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(nucleus)</a:t>
            </a:r>
            <a:endParaRPr lang="en-US" sz="1008" dirty="0"/>
          </a:p>
        </p:txBody>
      </p:sp>
      <p:sp>
        <p:nvSpPr>
          <p:cNvPr id="41" name="Text 39"/>
          <p:cNvSpPr/>
          <p:nvPr/>
        </p:nvSpPr>
        <p:spPr>
          <a:xfrm>
            <a:off x="6437359" y="3770668"/>
            <a:ext cx="2922498" cy="53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Campiona dal minimo set di token la cui probabilita cumulativa &gt;= p (es. 0.9).</a:t>
            </a:r>
            <a:endParaRPr lang="en-US" sz="1110" dirty="0"/>
          </a:p>
        </p:txBody>
      </p:sp>
      <p:sp>
        <p:nvSpPr>
          <p:cNvPr id="42" name="Shape 40"/>
          <p:cNvSpPr/>
          <p:nvPr/>
        </p:nvSpPr>
        <p:spPr>
          <a:xfrm>
            <a:off x="4916184" y="2931719"/>
            <a:ext cx="4056464" cy="663785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916185" y="2931719"/>
            <a:ext cx="1428982" cy="663785"/>
          </a:xfrm>
          <a:prstGeom prst="roundRect">
            <a:avLst>
              <a:gd name="adj" fmla="val 9722"/>
            </a:avLst>
          </a:prstGeom>
          <a:solidFill>
            <a:srgbClr val="0F3460"/>
          </a:solidFill>
          <a:ln/>
        </p:spPr>
      </p:sp>
      <p:sp>
        <p:nvSpPr>
          <p:cNvPr id="44" name="Text 42"/>
          <p:cNvSpPr/>
          <p:nvPr/>
        </p:nvSpPr>
        <p:spPr>
          <a:xfrm>
            <a:off x="4962282" y="3014692"/>
            <a:ext cx="1336789" cy="497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</a:t>
            </a:r>
            <a:endParaRPr lang="en-US" sz="1008" dirty="0"/>
          </a:p>
        </p:txBody>
      </p:sp>
      <p:sp>
        <p:nvSpPr>
          <p:cNvPr id="45" name="Text 43"/>
          <p:cNvSpPr/>
          <p:nvPr/>
        </p:nvSpPr>
        <p:spPr>
          <a:xfrm>
            <a:off x="6437360" y="2987034"/>
            <a:ext cx="2599825" cy="608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Esplora le B sequenze piu promettenti in parallelo. Usato in traduzione, non in chat.</a:t>
            </a:r>
            <a:endParaRPr lang="en-US" sz="11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Tema 2022">
  <a:themeElements>
    <a:clrScheme name="Office 2013 - Tema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61</TotalTime>
  <Words>1186</Words>
  <Application>Microsoft Office PowerPoint</Application>
  <PresentationFormat>Presentazione su schermo (16:9)</PresentationFormat>
  <Paragraphs>240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Georgia</vt:lpstr>
      <vt:lpstr>Office 2013 - Tema 2022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Teoria LLM: Dalle Origini ai Modelli Moderni</dc:title>
  <dc:subject>PptxGenJS Presentation</dc:subject>
  <dc:creator>PptxGenJS</dc:creator>
  <cp:lastModifiedBy>Alex Marchetti</cp:lastModifiedBy>
  <cp:revision>5</cp:revision>
  <dcterms:created xsi:type="dcterms:W3CDTF">2026-05-10T13:58:12Z</dcterms:created>
  <dcterms:modified xsi:type="dcterms:W3CDTF">2026-05-11T01:10:58Z</dcterms:modified>
</cp:coreProperties>
</file>