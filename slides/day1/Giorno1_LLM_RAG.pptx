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684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GEN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 LLM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RAG Minimale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Giorno 1  ·  Sviluppo di Applicazioni GenAI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61428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7594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 · Roma · Maggio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Giorno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41248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" y="1051560"/>
            <a:ext cx="1965960" cy="155448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" y="11247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– 10:30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2608" y="14173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RAG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04288" y="1051560"/>
            <a:ext cx="1965960" cy="155448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95728" y="11247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 – 13:00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95728" y="14173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Minimale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07408" y="1051560"/>
            <a:ext cx="1965960" cy="155448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98848" y="11247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 – 15:00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98848" y="14173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Errori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Parametri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10528" y="1051560"/>
            <a:ext cx="1965960" cy="1554480"/>
          </a:xfrm>
          <a:prstGeom prst="rect">
            <a:avLst/>
          </a:prstGeom>
          <a:solidFill>
            <a:srgbClr val="06B6D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01968" y="11247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 – 18:00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01968" y="14173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Migliorato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– Mini-</a:t>
            </a:r>
            <a:r>
              <a:rPr lang="en-US" sz="2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dizionario</a:t>
            </a: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1005840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Token: unità minima di testo (≈ 3/4 di parola)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window: la 'memoria' del modello — non persiste tra sessioni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Temperatura: 0 = deterministico, 1 = creativo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 non 'sa' — predice il token più probabile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ragionamento reale: pattern matching statistico molto sofisticato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987552"/>
            <a:ext cx="4480560" cy="3520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078992"/>
            <a:ext cx="42976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 = tokenizer.encode('ciao mondo')  # [9778, 8038]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Context window: il limite fisico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messages_in_context = trim_to_limit(history)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llm.invoke(messages_in_context)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po’ di </a:t>
            </a:r>
            <a:r>
              <a:rPr lang="en-US" sz="2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</a:t>
            </a: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2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tasca</a:t>
            </a: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Token e Pricing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1005840"/>
            <a:ext cx="8686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 &lt; Output token (di solito 3–5x più costosi)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GPT-4o: ~$2.5/M input · $10/M output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Flash: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economico, ottimo per sviluppo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Sonnet: bilanciato su qualità e costo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riduce i token di output: risposta mirata, non generica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lungo = costi alti: chunk buoni = contesto breve e preciso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Allucinazioni: il Rischio Principale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1005840"/>
            <a:ext cx="8686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 genera testo plausibile, non necessariamente vero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ottimizzato per coerenza linguistica, non per verità fattuale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Segnali: date precise inventate, citazioni false, confidenza eccessiva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peggiorano con modelli migliori: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strutturali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Rimedio RAG: 'Rispondi SOLO dal contesto + cita le fonti'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vs Agent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" y="1005840"/>
            <a:ext cx="4023360" cy="329184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92608" y="160020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Risposta singola per turno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Nessun tool esterno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Memoria manuale nel prompt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Stateless tra sessioni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1005840"/>
            <a:ext cx="4023360" cy="329184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60020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Loop: decide → agisce → osserva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Usa tool: search, compute, DB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Stato persistente (LangGraph)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Può sbagliare e autocorreggersi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92365" y="2194560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196914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Essenziale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1005840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Istruzioni: chi sei, cosa fai, tono, vincoli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Contesto: documenti recuperati, dati rilevanti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Fonti: da dove rispondere ('SOLO dal contesto')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formato, lunghezza, lingua, struttura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987552"/>
            <a:ext cx="4480560" cy="3520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078992"/>
            <a:ext cx="42976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f"""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Sei un </a:t>
            </a:r>
            <a:r>
              <a:rPr lang="en-US" sz="950" dirty="0" err="1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assistente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 err="1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aziendale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Rispondi SOLO usando il contesto fornito.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 inventare policy o procedure.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CONTESTO: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{context}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DOMANDA: {question}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Rispondi in italiano. Cita le fonti: nome_file.md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RAG? Il Problema della Conoscenza Statica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1005840"/>
            <a:ext cx="8686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LLM sono addestrati su dati fino a una certa data (training cutoff)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conoscono i tuoi documenti interni, policy, procedure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Fine-tuning: costoso, lento, non aggiornabile in tempo reale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learning: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imparare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dal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l’inferenza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 il contesto ha un limite fisico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porta dati freschi al momento della query, senza retraining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Vantaggio operativo: update dei documenti = update immediato delle risposte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RAG — Il Flusso Completo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" y="1645920"/>
            <a:ext cx="1078992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164592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80160" y="2057400"/>
            <a:ext cx="54864" cy="182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Shape 6"/>
          <p:cNvSpPr/>
          <p:nvPr/>
        </p:nvSpPr>
        <p:spPr>
          <a:xfrm>
            <a:off x="1335024" y="1645920"/>
            <a:ext cx="1078992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1335024" y="164592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14016" y="2057400"/>
            <a:ext cx="54864" cy="182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Shape 9"/>
          <p:cNvSpPr/>
          <p:nvPr/>
        </p:nvSpPr>
        <p:spPr>
          <a:xfrm>
            <a:off x="2468880" y="1645920"/>
            <a:ext cx="1078992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64592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47872" y="2057400"/>
            <a:ext cx="54864" cy="182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Shape 12"/>
          <p:cNvSpPr/>
          <p:nvPr/>
        </p:nvSpPr>
        <p:spPr>
          <a:xfrm>
            <a:off x="3602736" y="1645920"/>
            <a:ext cx="1078992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3602736" y="164592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81728" y="2057400"/>
            <a:ext cx="54864" cy="182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Shape 15"/>
          <p:cNvSpPr/>
          <p:nvPr/>
        </p:nvSpPr>
        <p:spPr>
          <a:xfrm>
            <a:off x="4736592" y="1645920"/>
            <a:ext cx="1078992" cy="1005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4736592" y="164592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15584" y="2057400"/>
            <a:ext cx="54864" cy="182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Shape 18"/>
          <p:cNvSpPr/>
          <p:nvPr/>
        </p:nvSpPr>
        <p:spPr>
          <a:xfrm>
            <a:off x="5870448" y="1645920"/>
            <a:ext cx="10789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870448" y="164592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2057400"/>
            <a:ext cx="54864" cy="182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3" name="Shape 21"/>
          <p:cNvSpPr/>
          <p:nvPr/>
        </p:nvSpPr>
        <p:spPr>
          <a:xfrm>
            <a:off x="7004304" y="1645920"/>
            <a:ext cx="1078992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7004304" y="164592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fonti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" y="269748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MD, TXT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35024" y="269748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split_text()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68880" y="269748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hash_embed()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02736" y="269748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36592" y="269748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n_results=3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70448" y="269748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build_prompt()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04304" y="269748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call_llm()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1168" y="3200400"/>
            <a:ext cx="8686800" cy="5943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3" name="Text 31"/>
          <p:cNvSpPr/>
          <p:nvPr/>
        </p:nvSpPr>
        <p:spPr>
          <a:xfrm>
            <a:off x="292608" y="32004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componente è sostituibile: questa è la forza dell'architettura RAG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Chunking: L'Arte di Spezzare i Documenti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1005840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chunk_size: dimensione in caratteri di ogni pezzo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overlap: sovrapposizione tra chunk contigui (cattura contesti a cavallo)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Troppo grande → retrieval generico e rumoroso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Troppo piccolo → contesto frammentato, risposta incompleta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semplice: split a caratteri + overlap 15%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987552"/>
            <a:ext cx="4480560" cy="3520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078992"/>
            <a:ext cx="42976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split_text(text, chunk_size=700, overlap=120):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chunks, start = [],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start &lt; len(text):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end = start + chunk_size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chunks.append(text[start:end].strip())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end &gt;= len(text): break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start = end - overlap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chunks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Chunk troppo grande: [0:2000] -&gt; retrieval impreciso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Chunk troppo piccolo: [0:100] -&gt; contesto frammentato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Embedding: Testo → Vettore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1005840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chunk diventa un array di float (es. 384 dimensioni)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 semanticamente simili → vettori geometricamente vicini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Similarità coseno: misura l'angolo tra due vettori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Oggi: embedding hash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successivo: sentence-transformers o API embedding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987552"/>
            <a:ext cx="4480560" cy="3520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078992"/>
            <a:ext cx="42976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Embedding hash (didattico): lessicale, non semantico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hash_embedding(text, dim=384):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 = [0.0] * dim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token in tokenize(text):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idx = sha256(token) % dim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vec[idx] += 1.0 if even else -1.0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normalize(vec)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Sostituire con: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from sentence_transformers import SentenceTransformer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 = SentenceTransformer('all-MiniLM-L6-v2')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vec = model.encode(text)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&amp; Retrieval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1005840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Chroma: DB vettoriale locale, nessun server necessario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collection.upsert(): aggiunge o aggiorna chunk con i loro vettori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collection.query(): trova i k chunk più vicini alla query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Distanza bassa = alta pertinenza (coseno: 0 = identico)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Chroma a Qdrant/Pinecone: stessa logica, ma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scala produzione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987552"/>
            <a:ext cx="4480560" cy="3520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078992"/>
            <a:ext cx="42976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chromadb.PersistentClient('./chroma_db')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= client.get_or_create_collection('hcl_rag')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Indicizzazione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col.upsert(ids=ids, documents=texts, embeddings=vecs)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Retrieval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col.query(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query_embeddings=[embed(question)],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n_results=3,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include=['documents','metadatas','distances']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Generation: Chiudere il Loop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1005840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= Istruzioni + Contesto recuperato + Domanda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LLM risponde usando SOLO il contesto fornito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Aggiungere 'cita le fonti' riduce drasticamente le allucinazioni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answer(q) = retrieve(q) → build_prompt() → call_llm()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987552"/>
            <a:ext cx="4480560" cy="3520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078992"/>
            <a:ext cx="42976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answer(question: str) -&gt; str: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1. Retrieve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chunks = retrieve(question, top_k=3)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2. Build prompt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 = '\n\n'.join(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f'[SOURCE: {c["source"]}]\n{c["text"]}'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 in chunks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build_prompt(question, context)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3. Generate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call_llm(prompt)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Mattino — Cosa Costruiremo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" y="10972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0515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main.py setup-data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crea i documenti di esempio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" y="175564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709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main.py ingest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chunking + embedding + Chroma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1168" y="2414016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3682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main.py retrieve 'Come apro un ticket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?’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(MOCK + LLM)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1168" y="3072384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201168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0266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main.py ask 'Qual è il processo di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acquisto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?’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(MOCK + LLM)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1168" y="3730752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201168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6850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Opzionale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Modificare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python / fare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java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01168" y="4526280"/>
            <a:ext cx="8686800" cy="4114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" y="452628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RAG funzionante sul proprio dominio entro le 13:00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Chroma: Il Nostro Vector DB Didattico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1005840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PersistentClient: salva su disco, ricarica tra sessioni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get_or_create_collection(): idempotente, sicuro da chiamare più volte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upsert(): aggiunge o aggiorna (mai duplicati per ID)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dipendenze esterne: gira su laptop senza connessione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Chroma a Qdrant: stessa interfaccia, più potenza in produzione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987552"/>
            <a:ext cx="4480560" cy="3520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078992"/>
            <a:ext cx="42976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Setup una sola volta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chromadb.PersistentClient(path='./chroma_db')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= client.get_or_create_collection('my_kb')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Ingest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col.upsert(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ids=['doc1::chunk_0'],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documents=['testo del chunk'],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embeddings=[[0.1, 0.2, ...]],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metadatas=[{'source':'hr_policy.md'}]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 Errori Comuni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" y="1078992"/>
            <a:ext cx="347472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troppo grandi: retrieval impreciso, troppo rumore nel contesto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" y="1737360"/>
            <a:ext cx="347472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16642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assente: contenuti importanti spezzati tra chunk contigui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1168" y="2395728"/>
            <a:ext cx="347472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" y="23225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senza vincoli: il modello inventa quando il contesto non basta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1168" y="3054096"/>
            <a:ext cx="347472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201168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" y="29809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fonte citata: impossibile verificare e debuggare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1168" y="3712464"/>
            <a:ext cx="347472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201168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" y="36393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hash: funziona per oggi, ma non è semantico — da sostituire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 Chiave da Conoscere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" y="1097280"/>
            <a:ext cx="2057400" cy="2286000"/>
          </a:xfrm>
          <a:prstGeom prst="rect">
            <a:avLst/>
          </a:prstGeom>
          <a:solidFill>
            <a:srgbClr val="0A2342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" y="12070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92608" y="171907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portati al prompt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" y="2724912"/>
            <a:ext cx="1874520" cy="502920"/>
          </a:xfrm>
          <a:prstGeom prst="rect">
            <a:avLst/>
          </a:prstGeom>
          <a:solidFill>
            <a:srgbClr val="061828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27249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3–5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1097280"/>
            <a:ext cx="2057400" cy="2286000"/>
          </a:xfrm>
          <a:prstGeom prst="rect">
            <a:avLst/>
          </a:prstGeom>
          <a:solidFill>
            <a:srgbClr val="0891B2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2070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chunk_size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468880" y="171907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Caratteri per chunk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2724912"/>
            <a:ext cx="1874520" cy="502920"/>
          </a:xfrm>
          <a:prstGeom prst="rect">
            <a:avLst/>
          </a:prstGeom>
          <a:solidFill>
            <a:srgbClr val="065A76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27249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500–1000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53712" y="1097280"/>
            <a:ext cx="2057400" cy="2286000"/>
          </a:xfrm>
          <a:prstGeom prst="rect">
            <a:avLst/>
          </a:prstGeom>
          <a:solidFill>
            <a:srgbClr val="0F3460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45152" y="12070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45152" y="171907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Sovrapposizione chunk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45152" y="2724912"/>
            <a:ext cx="1874520" cy="502920"/>
          </a:xfrm>
          <a:prstGeom prst="rect">
            <a:avLst/>
          </a:prstGeom>
          <a:solidFill>
            <a:srgbClr val="09253C"/>
          </a:solidFill>
          <a:ln/>
        </p:spPr>
      </p:sp>
      <p:sp>
        <p:nvSpPr>
          <p:cNvPr id="19" name="Text 17"/>
          <p:cNvSpPr/>
          <p:nvPr/>
        </p:nvSpPr>
        <p:spPr>
          <a:xfrm>
            <a:off x="4690872" y="27249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10–20% del chunk_size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9984" y="1097280"/>
            <a:ext cx="2057400" cy="2286000"/>
          </a:xfrm>
          <a:prstGeom prst="rect">
            <a:avLst/>
          </a:prstGeom>
          <a:solidFill>
            <a:srgbClr val="06B6D4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21424" y="12070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costo/token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21424" y="171907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+ Output token fatturati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21424" y="2724912"/>
            <a:ext cx="1874520" cy="502920"/>
          </a:xfrm>
          <a:prstGeom prst="rect">
            <a:avLst/>
          </a:prstGeom>
          <a:solidFill>
            <a:srgbClr val="4B3800"/>
          </a:solidFill>
          <a:ln/>
        </p:spPr>
      </p:sp>
      <p:sp>
        <p:nvSpPr>
          <p:cNvPr id="24" name="Text 22"/>
          <p:cNvSpPr/>
          <p:nvPr/>
        </p:nvSpPr>
        <p:spPr>
          <a:xfrm>
            <a:off x="6867144" y="27249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 lungo = costo alto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LangChain: I Building Blocks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1005840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ChatModel: wrapper unificato per OpenAI, Gemini, Anthropic, Ollama...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PromptTemplate: template con variabili, riusabile e testabile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Document: testo + metadata (source, page, chunk_index...)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Retriever: interfaccia .invoke(query) → [Document]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/ Runnable (LCEL): pipeline componibile con pipe operator |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987552"/>
            <a:ext cx="4480560" cy="3520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078992"/>
            <a:ext cx="42976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langchain_core.prompts import ChatPromptTemplate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langchain_google_genai import ChatGoogleGenerativeAI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langchain_core.output_parsers import StrOutputParser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ChatGoogleGenerativeAI(model='gemini-2.5-flash')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ChatPromptTemplate.from_template(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'Rispondi: {question}\nContesto: {context}'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 = prompt | llm | StrOutputParser()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chain.invoke({'question': q, 'context': docs})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Pomeriggio — RAG Migliorato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" y="10972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0515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filtering: filtra chunk per source o categoria dominio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" y="175564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709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Secondo esperimento chunking con size diversa — confronta risultati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1168" y="2414016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3682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 richiesta esplicita di citare le fonti (nome_file.md)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1168" y="3072384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201168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0266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Logging: salva ogni risposta in qa_log.md con domanda, fonte, risposta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1168" y="3730752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201168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6850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(Opzionale) Confronta risposte con chunk_size 300 vs 700 vs 1200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Giorno 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6868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Take-away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RAG = Retrieve + Augment + Generate: semplice ma potente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Chunk e prompt design contano più della scelta del modello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377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LangChain standardizza i componenti: swappare LLM in 1 riga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50292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926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day1_rag/answer.py + qa_log.md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749040"/>
            <a:ext cx="8686800" cy="5943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749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Domani: la RAG diventa un tool dentro un Agent stateful con LangGraph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1777</Words>
  <Application>Microsoft Office PowerPoint</Application>
  <PresentationFormat>Presentazione su schermo (16:9)</PresentationFormat>
  <Paragraphs>274</Paragraphs>
  <Slides>20</Slides>
  <Notes>20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Giorno 1 - Fondamenta LLM &amp; RAG Minimale</dc:title>
  <dc:subject>PptxGenJS Presentation</dc:subject>
  <dc:creator>Alessandro Marchetti</dc:creator>
  <cp:lastModifiedBy>Alex Marchetti</cp:lastModifiedBy>
  <cp:revision>6</cp:revision>
  <dcterms:created xsi:type="dcterms:W3CDTF">2026-05-09T09:13:15Z</dcterms:created>
  <dcterms:modified xsi:type="dcterms:W3CDTF">2026-05-11T02:03:27Z</dcterms:modified>
</cp:coreProperties>
</file>